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76" r:id="rId11"/>
    <p:sldId id="265" r:id="rId12"/>
    <p:sldId id="266" r:id="rId13"/>
    <p:sldId id="267" r:id="rId14"/>
    <p:sldId id="268" r:id="rId15"/>
    <p:sldId id="269" r:id="rId16"/>
    <p:sldId id="270" r:id="rId17"/>
    <p:sldId id="271" r:id="rId18"/>
    <p:sldId id="277" r:id="rId19"/>
    <p:sldId id="272"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36" autoAdjust="0"/>
    <p:restoredTop sz="94610"/>
  </p:normalViewPr>
  <p:slideViewPr>
    <p:cSldViewPr snapToGrid="0" snapToObjects="1">
      <p:cViewPr varScale="1">
        <p:scale>
          <a:sx n="75" d="100"/>
          <a:sy n="75" d="100"/>
        </p:scale>
        <p:origin x="62" y="5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69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borrowed from the project overview deck.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terms here: the Trifid Nebula is the environment, HH399 is the jet. The word that matters is irradiated.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diagnostic lines, one derived quantity. The ratio is the thing, not the raw flux.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blended physics, and no labels. Those three together are what make the ML framing worth trying.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 is a real objective here, not a disclaimer.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every later slide refers back 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Cube gives spatial context. That is what Model 1 exploits.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spectra is small, and that is stated openly. They are real, and they are specific to HH399.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explained once here so Models 1 and 2 do not need to re-explain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pooling is deliberate: the same encoder handles short synthetic spectra and full real ones unchanged.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towers, one loss, then plain KMeans on the learned space.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 qualitative result, weak retrieval number, both stated.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FEROS half is the test that actually matters for this thesis.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the spectrum side sees thousands of examples, the text side sees three sentences.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perfectly inverted score is more informative than a random one. That is the whole point of this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Billion-parameter pretraining was never in reach. Only the two structural ideas carry over.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only the masked positions is what stops the model trivially copying its input.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convergence between Models 1 and 3 is the headline. The FEROS number is the traceable answer to Model 2.</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5 in practice: the weak results are on this slide too.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ordered from the cheapest fix to the largest scaling step.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63"/>
        </a:solidFill>
        <a:effectLst/>
      </p:bgPr>
    </p:bg>
    <p:spTree>
      <p:nvGrpSpPr>
        <p:cNvPr id="1" name=""/>
        <p:cNvGrpSpPr/>
        <p:nvPr/>
      </p:nvGrpSpPr>
      <p:grpSpPr>
        <a:xfrm>
          <a:off x="0" y="0"/>
          <a:ext cx="0" cy="0"/>
          <a:chOff x="0" y="0"/>
          <a:chExt cx="0" cy="0"/>
        </a:xfrm>
      </p:grpSpPr>
      <p:pic>
        <p:nvPicPr>
          <p:cNvPr id="2" name="Image 0" descr="figs/mu_logo.png"/>
          <p:cNvPicPr>
            <a:picLocks noChangeAspect="1"/>
          </p:cNvPicPr>
          <p:nvPr/>
        </p:nvPicPr>
        <p:blipFill>
          <a:blip r:embed="rId3"/>
          <a:stretch>
            <a:fillRect/>
          </a:stretch>
        </p:blipFill>
        <p:spPr>
          <a:xfrm>
            <a:off x="4937760" y="457200"/>
            <a:ext cx="2596896" cy="1097280"/>
          </a:xfrm>
          <a:prstGeom prst="rect">
            <a:avLst/>
          </a:prstGeom>
        </p:spPr>
      </p:pic>
      <p:sp>
        <p:nvSpPr>
          <p:cNvPr id="3" name="Text 0"/>
          <p:cNvSpPr/>
          <p:nvPr/>
        </p:nvSpPr>
        <p:spPr>
          <a:xfrm>
            <a:off x="914400" y="1920240"/>
            <a:ext cx="10360152" cy="1554480"/>
          </a:xfrm>
          <a:prstGeom prst="rect">
            <a:avLst/>
          </a:prstGeom>
          <a:noFill/>
          <a:ln/>
        </p:spPr>
        <p:txBody>
          <a:bodyPr wrap="square" lIns="0" tIns="0" rIns="0" bIns="0" rtlCol="0" anchor="ctr"/>
          <a:lstStyle/>
          <a:p>
            <a:pPr marL="0" indent="0" algn="ctr">
              <a:lnSpc>
                <a:spcPts val="4000"/>
              </a:lnSpc>
              <a:buNone/>
            </a:pPr>
            <a:r>
              <a:rPr lang="en-US" sz="3000" b="1" dirty="0">
                <a:solidFill>
                  <a:srgbClr val="FFFFFF"/>
                </a:solidFill>
                <a:latin typeface="Calibri" pitchFamily="34" charset="0"/>
                <a:ea typeface="Calibri" pitchFamily="34" charset="-122"/>
                <a:cs typeface="Calibri" pitchFamily="34" charset="-120"/>
              </a:rPr>
              <a:t>Machine Learning with MUSE Astro Data: Self-Supervised Region Mapping and Zero-Shot Spectral Classification of the Irradiated Herbig-Haro Jet HH399</a:t>
            </a:r>
            <a:endParaRPr lang="en-US" sz="3000" dirty="0"/>
          </a:p>
        </p:txBody>
      </p:sp>
      <p:sp>
        <p:nvSpPr>
          <p:cNvPr id="4" name="Text 1"/>
          <p:cNvSpPr/>
          <p:nvPr/>
        </p:nvSpPr>
        <p:spPr>
          <a:xfrm>
            <a:off x="914400" y="3931920"/>
            <a:ext cx="10360152" cy="365760"/>
          </a:xfrm>
          <a:prstGeom prst="rect">
            <a:avLst/>
          </a:prstGeom>
          <a:noFill/>
          <a:ln/>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Eshan Kumar Jain   |   25252963   |   MSc Data Science &amp; Analytics, Maynooth University</a:t>
            </a:r>
            <a:endParaRPr lang="en-US" sz="1600" dirty="0"/>
          </a:p>
        </p:txBody>
      </p:sp>
      <p:sp>
        <p:nvSpPr>
          <p:cNvPr id="5" name="Text 2"/>
          <p:cNvSpPr/>
          <p:nvPr/>
        </p:nvSpPr>
        <p:spPr>
          <a:xfrm>
            <a:off x="914400" y="4343400"/>
            <a:ext cx="10360152" cy="365760"/>
          </a:xfrm>
          <a:prstGeom prst="rect">
            <a:avLst/>
          </a:prstGeom>
          <a:noFill/>
          <a:ln/>
        </p:spPr>
        <p:txBody>
          <a:bodyPr wrap="square" lIns="0" tIns="0" rIns="0" bIns="0" rtlCol="0" anchor="ctr"/>
          <a:lstStyle/>
          <a:p>
            <a:pPr marL="0" indent="0" algn="ctr">
              <a:buNone/>
            </a:pPr>
            <a:r>
              <a:rPr lang="en-US" sz="1400" dirty="0">
                <a:solidFill>
                  <a:srgbClr val="C9D6E8"/>
                </a:solidFill>
                <a:latin typeface="Calibri" pitchFamily="34" charset="0"/>
                <a:ea typeface="Calibri" pitchFamily="34" charset="-122"/>
                <a:cs typeface="Calibri" pitchFamily="34" charset="-120"/>
              </a:rPr>
              <a:t>Supervisor: Prof. Rozenn Dahyot   |   Collaborator: Prof. Emma Whelan</a:t>
            </a:r>
            <a:endParaRPr lang="en-US" sz="1400" dirty="0"/>
          </a:p>
        </p:txBody>
      </p:sp>
      <p:sp>
        <p:nvSpPr>
          <p:cNvPr id="6" name="Text 3"/>
          <p:cNvSpPr/>
          <p:nvPr/>
        </p:nvSpPr>
        <p:spPr>
          <a:xfrm>
            <a:off x="914400" y="5120640"/>
            <a:ext cx="10360152" cy="365760"/>
          </a:xfrm>
          <a:prstGeom prst="rect">
            <a:avLst/>
          </a:prstGeom>
          <a:noFill/>
          <a:ln/>
        </p:spPr>
        <p:txBody>
          <a:bodyPr wrap="square" lIns="0" tIns="0" rIns="0" bIns="0" rtlCol="0" anchor="ctr"/>
          <a:lstStyle/>
          <a:p>
            <a:pPr marL="0" indent="0" algn="ctr">
              <a:buNone/>
            </a:pPr>
            <a:r>
              <a:rPr lang="en-US" sz="1250" i="1" dirty="0">
                <a:solidFill>
                  <a:srgbClr val="E8A61E"/>
                </a:solidFill>
                <a:latin typeface="Calibri" pitchFamily="34" charset="0"/>
                <a:ea typeface="Calibri" pitchFamily="34" charset="-122"/>
                <a:cs typeface="Calibri" pitchFamily="34" charset="-120"/>
              </a:rPr>
              <a:t>VLT/MUSE cube (ESO 60.A-9322(A))  +  9 archival FEROS spectra  |  Three self-supervised models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The Object: HH399 Inside the Trifid Nebula</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TERMINOLOGY 1 OF 2</a:t>
            </a:r>
            <a:endParaRPr lang="en-US" sz="1100" dirty="0"/>
          </a:p>
        </p:txBody>
      </p:sp>
      <p:sp>
        <p:nvSpPr>
          <p:cNvPr id="4" name="Text 2"/>
          <p:cNvSpPr/>
          <p:nvPr/>
        </p:nvSpPr>
        <p:spPr>
          <a:xfrm>
            <a:off x="548640" y="1463040"/>
            <a:ext cx="6035040" cy="4572000"/>
          </a:xfrm>
          <a:prstGeom prst="rect">
            <a:avLst/>
          </a:prstGeom>
          <a:noFill/>
          <a:ln/>
        </p:spPr>
        <p:txBody>
          <a:bodyPr wrap="square" lIns="0" tIns="0" rIns="0" bIns="0" rtlCol="0" anchor="t"/>
          <a:lstStyle/>
          <a:p>
            <a:pPr marL="342900" indent="-342900">
              <a:lnSpc>
                <a:spcPts val="1792"/>
              </a:lnSpc>
              <a:spcAft>
                <a:spcPts val="800"/>
              </a:spcAft>
              <a:buSzPct val="100000"/>
              <a:buChar char="•"/>
            </a:pPr>
            <a:r>
              <a:rPr lang="en-US" sz="1400" dirty="0">
                <a:solidFill>
                  <a:srgbClr val="202020"/>
                </a:solidFill>
                <a:latin typeface="Calibri" pitchFamily="34" charset="0"/>
                <a:ea typeface="Calibri" pitchFamily="34" charset="-122"/>
                <a:cs typeface="Calibri" pitchFamily="34" charset="-120"/>
              </a:rPr>
              <a:t>Trifid Nebula (M20): a star-forming region in Sagittarius. Its gas is ionised by a massive O7.5 star, which floods the whole neighbourhood with ultraviolet light.</a:t>
            </a:r>
            <a:endParaRPr lang="en-US" sz="1400" dirty="0"/>
          </a:p>
          <a:p>
            <a:pPr marL="342900" indent="-342900">
              <a:lnSpc>
                <a:spcPts val="1792"/>
              </a:lnSpc>
              <a:spcAft>
                <a:spcPts val="800"/>
              </a:spcAft>
              <a:buSzPct val="100000"/>
              <a:buChar char="•"/>
            </a:pPr>
            <a:r>
              <a:rPr lang="en-US" sz="1400" dirty="0">
                <a:solidFill>
                  <a:srgbClr val="202020"/>
                </a:solidFill>
                <a:latin typeface="Calibri" pitchFamily="34" charset="0"/>
                <a:ea typeface="Calibri" pitchFamily="34" charset="-122"/>
                <a:cs typeface="Calibri" pitchFamily="34" charset="-120"/>
              </a:rPr>
              <a:t>Herbig-Haro (HH) object: the glowing knots and bow shocks formed where a jet from a newborn star slams into the gas around it.</a:t>
            </a:r>
            <a:endParaRPr lang="en-US" sz="1400" dirty="0"/>
          </a:p>
          <a:p>
            <a:pPr marL="342900" indent="-342900">
              <a:lnSpc>
                <a:spcPts val="1792"/>
              </a:lnSpc>
              <a:spcAft>
                <a:spcPts val="800"/>
              </a:spcAft>
              <a:buSzPct val="100000"/>
              <a:buChar char="•"/>
            </a:pPr>
            <a:r>
              <a:rPr lang="en-US" sz="1400" dirty="0">
                <a:solidFill>
                  <a:srgbClr val="202020"/>
                </a:solidFill>
                <a:latin typeface="Calibri" pitchFamily="34" charset="0"/>
                <a:ea typeface="Calibri" pitchFamily="34" charset="-122"/>
                <a:cs typeface="Calibri" pitchFamily="34" charset="-120"/>
              </a:rPr>
              <a:t>HH399: the HH jet sitting inside M20. Most catalogued HH objects sit somewhere quiet, so they glow purely from their own internal shocks.</a:t>
            </a:r>
            <a:endParaRPr lang="en-US" sz="1400" dirty="0"/>
          </a:p>
          <a:p>
            <a:pPr marL="342900" indent="-342900">
              <a:lnSpc>
                <a:spcPts val="1792"/>
              </a:lnSpc>
              <a:spcAft>
                <a:spcPts val="800"/>
              </a:spcAft>
              <a:buSzPct val="100000"/>
              <a:buChar char="•"/>
            </a:pPr>
            <a:r>
              <a:rPr lang="en-US" sz="1400" dirty="0">
                <a:solidFill>
                  <a:srgbClr val="202020"/>
                </a:solidFill>
                <a:latin typeface="Calibri" pitchFamily="34" charset="0"/>
                <a:ea typeface="Calibri" pitchFamily="34" charset="-122"/>
                <a:cs typeface="Calibri" pitchFamily="34" charset="-120"/>
              </a:rPr>
              <a:t>Irradiated jet: HH399 does not get that luxury. It is close enough to the O7.5 star to also be lit from outside, so its light is a blend of internal shock excitation and external photoionisation.</a:t>
            </a:r>
            <a:endParaRPr lang="en-US" sz="1400" dirty="0"/>
          </a:p>
        </p:txBody>
      </p:sp>
      <p:sp>
        <p:nvSpPr>
          <p:cNvPr id="5" name="Shape 3"/>
          <p:cNvSpPr/>
          <p:nvPr/>
        </p:nvSpPr>
        <p:spPr>
          <a:xfrm>
            <a:off x="6858000" y="1600200"/>
            <a:ext cx="4800600" cy="3200400"/>
          </a:xfrm>
          <a:prstGeom prst="roundRect">
            <a:avLst>
              <a:gd name="adj" fmla="val 1429"/>
            </a:avLst>
          </a:prstGeom>
          <a:solidFill>
            <a:srgbClr val="EDF1F7"/>
          </a:solidFill>
          <a:ln w="12700">
            <a:solidFill>
              <a:srgbClr val="EDF1F7"/>
            </a:solidFill>
            <a:prstDash val="solid"/>
          </a:ln>
        </p:spPr>
      </p:sp>
      <p:sp>
        <p:nvSpPr>
          <p:cNvPr id="6" name="Shape 4"/>
          <p:cNvSpPr/>
          <p:nvPr/>
        </p:nvSpPr>
        <p:spPr>
          <a:xfrm>
            <a:off x="10561320" y="1828800"/>
            <a:ext cx="868680" cy="868680"/>
          </a:xfrm>
          <a:prstGeom prst="ellipse">
            <a:avLst/>
          </a:prstGeom>
          <a:solidFill>
            <a:srgbClr val="E8A61E"/>
          </a:solidFill>
          <a:ln w="12700">
            <a:solidFill>
              <a:srgbClr val="E8A61E"/>
            </a:solidFill>
            <a:prstDash val="solid"/>
          </a:ln>
        </p:spPr>
      </p:sp>
      <p:sp>
        <p:nvSpPr>
          <p:cNvPr id="7" name="Text 5"/>
          <p:cNvSpPr/>
          <p:nvPr/>
        </p:nvSpPr>
        <p:spPr>
          <a:xfrm>
            <a:off x="10104120" y="2715768"/>
            <a:ext cx="1783080" cy="228600"/>
          </a:xfrm>
          <a:prstGeom prst="rect">
            <a:avLst/>
          </a:prstGeom>
          <a:noFill/>
          <a:ln/>
        </p:spPr>
        <p:txBody>
          <a:bodyPr wrap="square" lIns="0" tIns="0" rIns="0" bIns="0" rtlCol="0" anchor="ctr"/>
          <a:lstStyle/>
          <a:p>
            <a:pPr marL="0" indent="0" algn="ctr">
              <a:buNone/>
            </a:pPr>
            <a:r>
              <a:rPr lang="en-US" sz="1000" b="1" dirty="0">
                <a:solidFill>
                  <a:srgbClr val="202020"/>
                </a:solidFill>
                <a:latin typeface="Calibri" pitchFamily="34" charset="0"/>
                <a:ea typeface="Calibri" pitchFamily="34" charset="-122"/>
                <a:cs typeface="Calibri" pitchFamily="34" charset="-120"/>
              </a:rPr>
              <a:t>O7.5 star</a:t>
            </a:r>
            <a:endParaRPr lang="en-US" sz="1000" dirty="0"/>
          </a:p>
        </p:txBody>
      </p:sp>
      <p:sp>
        <p:nvSpPr>
          <p:cNvPr id="8" name="Shape 6"/>
          <p:cNvSpPr/>
          <p:nvPr/>
        </p:nvSpPr>
        <p:spPr>
          <a:xfrm>
            <a:off x="10469880" y="2560320"/>
            <a:ext cx="0" cy="685800"/>
          </a:xfrm>
          <a:prstGeom prst="line">
            <a:avLst/>
          </a:prstGeom>
          <a:noFill/>
          <a:ln w="22225">
            <a:solidFill>
              <a:srgbClr val="E8A61E"/>
            </a:solidFill>
            <a:prstDash val="solid"/>
            <a:tailEnd type="triangle"/>
          </a:ln>
        </p:spPr>
      </p:sp>
      <p:sp>
        <p:nvSpPr>
          <p:cNvPr id="9" name="Shape 7"/>
          <p:cNvSpPr/>
          <p:nvPr/>
        </p:nvSpPr>
        <p:spPr>
          <a:xfrm>
            <a:off x="10469880" y="2834640"/>
            <a:ext cx="0" cy="411480"/>
          </a:xfrm>
          <a:prstGeom prst="line">
            <a:avLst/>
          </a:prstGeom>
          <a:noFill/>
          <a:ln w="22225">
            <a:solidFill>
              <a:srgbClr val="E8A61E"/>
            </a:solidFill>
            <a:prstDash val="solid"/>
            <a:tailEnd type="triangle"/>
          </a:ln>
        </p:spPr>
      </p:sp>
      <p:sp>
        <p:nvSpPr>
          <p:cNvPr id="10" name="Text 8"/>
          <p:cNvSpPr/>
          <p:nvPr/>
        </p:nvSpPr>
        <p:spPr>
          <a:xfrm>
            <a:off x="9144000" y="2011680"/>
            <a:ext cx="1371600" cy="228600"/>
          </a:xfrm>
          <a:prstGeom prst="rect">
            <a:avLst/>
          </a:prstGeom>
          <a:noFill/>
          <a:ln/>
        </p:spPr>
        <p:txBody>
          <a:bodyPr wrap="square" lIns="0" tIns="0" rIns="0" bIns="0" rtlCol="0" anchor="ctr"/>
          <a:lstStyle/>
          <a:p>
            <a:pPr marL="0" indent="0" algn="ctr">
              <a:buNone/>
            </a:pPr>
            <a:r>
              <a:rPr lang="en-US" sz="950" i="1" dirty="0">
                <a:solidFill>
                  <a:srgbClr val="9A6E10"/>
                </a:solidFill>
                <a:latin typeface="Calibri" pitchFamily="34" charset="0"/>
                <a:ea typeface="Calibri" pitchFamily="34" charset="-122"/>
                <a:cs typeface="Calibri" pitchFamily="34" charset="-120"/>
              </a:rPr>
              <a:t>external UV</a:t>
            </a:r>
            <a:endParaRPr lang="en-US" sz="950" dirty="0"/>
          </a:p>
        </p:txBody>
      </p:sp>
      <p:sp>
        <p:nvSpPr>
          <p:cNvPr id="11" name="Shape 9"/>
          <p:cNvSpPr/>
          <p:nvPr/>
        </p:nvSpPr>
        <p:spPr>
          <a:xfrm>
            <a:off x="7178040" y="3474720"/>
            <a:ext cx="365760" cy="365760"/>
          </a:xfrm>
          <a:prstGeom prst="ellipse">
            <a:avLst/>
          </a:prstGeom>
          <a:solidFill>
            <a:srgbClr val="1F3B63"/>
          </a:solidFill>
          <a:ln w="12700">
            <a:solidFill>
              <a:srgbClr val="1F3B63"/>
            </a:solidFill>
            <a:prstDash val="solid"/>
          </a:ln>
        </p:spPr>
      </p:sp>
      <p:sp>
        <p:nvSpPr>
          <p:cNvPr id="12" name="Text 10"/>
          <p:cNvSpPr/>
          <p:nvPr/>
        </p:nvSpPr>
        <p:spPr>
          <a:xfrm>
            <a:off x="6903720" y="3886200"/>
            <a:ext cx="914400" cy="228600"/>
          </a:xfrm>
          <a:prstGeom prst="rect">
            <a:avLst/>
          </a:prstGeom>
          <a:noFill/>
          <a:ln/>
        </p:spPr>
        <p:txBody>
          <a:bodyPr wrap="square" lIns="0" tIns="0" rIns="0" bIns="0" rtlCol="0" anchor="ctr"/>
          <a:lstStyle/>
          <a:p>
            <a:pPr marL="0" indent="0" algn="ctr">
              <a:buNone/>
            </a:pPr>
            <a:r>
              <a:rPr lang="en-US" sz="950" dirty="0">
                <a:solidFill>
                  <a:srgbClr val="202020"/>
                </a:solidFill>
                <a:latin typeface="Calibri" pitchFamily="34" charset="0"/>
                <a:ea typeface="Calibri" pitchFamily="34" charset="-122"/>
                <a:cs typeface="Calibri" pitchFamily="34" charset="-120"/>
              </a:rPr>
              <a:t>young star</a:t>
            </a:r>
            <a:endParaRPr lang="en-US" sz="950" dirty="0"/>
          </a:p>
        </p:txBody>
      </p:sp>
      <p:sp>
        <p:nvSpPr>
          <p:cNvPr id="13" name="Shape 11"/>
          <p:cNvSpPr/>
          <p:nvPr/>
        </p:nvSpPr>
        <p:spPr>
          <a:xfrm>
            <a:off x="7635240" y="3429000"/>
            <a:ext cx="2331720" cy="457200"/>
          </a:xfrm>
          <a:prstGeom prst="roundRect">
            <a:avLst>
              <a:gd name="adj" fmla="val 40000"/>
            </a:avLst>
          </a:prstGeom>
          <a:solidFill>
            <a:srgbClr val="3A5F8F"/>
          </a:solidFill>
          <a:ln w="12700">
            <a:solidFill>
              <a:srgbClr val="3A5F8F"/>
            </a:solidFill>
            <a:prstDash val="solid"/>
          </a:ln>
        </p:spPr>
      </p:sp>
      <p:sp>
        <p:nvSpPr>
          <p:cNvPr id="14" name="Text 12"/>
          <p:cNvSpPr/>
          <p:nvPr/>
        </p:nvSpPr>
        <p:spPr>
          <a:xfrm>
            <a:off x="7635240" y="3429000"/>
            <a:ext cx="2331720" cy="45720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HH399 jet</a:t>
            </a:r>
            <a:endParaRPr lang="en-US" sz="1150" dirty="0"/>
          </a:p>
        </p:txBody>
      </p:sp>
      <p:sp>
        <p:nvSpPr>
          <p:cNvPr id="15" name="Shape 13"/>
          <p:cNvSpPr/>
          <p:nvPr/>
        </p:nvSpPr>
        <p:spPr>
          <a:xfrm>
            <a:off x="10012680" y="3657600"/>
            <a:ext cx="502920" cy="0"/>
          </a:xfrm>
          <a:prstGeom prst="line">
            <a:avLst/>
          </a:prstGeom>
          <a:noFill/>
          <a:ln w="22225">
            <a:solidFill>
              <a:srgbClr val="3A5F8F"/>
            </a:solidFill>
            <a:prstDash val="solid"/>
            <a:tailEnd type="triangle"/>
          </a:ln>
        </p:spPr>
      </p:sp>
      <p:sp>
        <p:nvSpPr>
          <p:cNvPr id="16" name="Text 14"/>
          <p:cNvSpPr/>
          <p:nvPr/>
        </p:nvSpPr>
        <p:spPr>
          <a:xfrm>
            <a:off x="7635240" y="3931920"/>
            <a:ext cx="2331720" cy="228600"/>
          </a:xfrm>
          <a:prstGeom prst="rect">
            <a:avLst/>
          </a:prstGeom>
          <a:noFill/>
          <a:ln/>
        </p:spPr>
        <p:txBody>
          <a:bodyPr wrap="square" lIns="0" tIns="0" rIns="0" bIns="0" rtlCol="0" anchor="ctr"/>
          <a:lstStyle/>
          <a:p>
            <a:pPr marL="0" indent="0" algn="ctr">
              <a:buNone/>
            </a:pPr>
            <a:r>
              <a:rPr lang="en-US" sz="950" i="1" dirty="0">
                <a:solidFill>
                  <a:srgbClr val="5B6675"/>
                </a:solidFill>
                <a:latin typeface="Calibri" pitchFamily="34" charset="0"/>
                <a:ea typeface="Calibri" pitchFamily="34" charset="-122"/>
                <a:cs typeface="Calibri" pitchFamily="34" charset="-120"/>
              </a:rPr>
              <a:t>internal shocks</a:t>
            </a:r>
            <a:endParaRPr lang="en-US" sz="950" dirty="0"/>
          </a:p>
        </p:txBody>
      </p:sp>
      <p:sp>
        <p:nvSpPr>
          <p:cNvPr id="17" name="Shape 15"/>
          <p:cNvSpPr/>
          <p:nvPr/>
        </p:nvSpPr>
        <p:spPr>
          <a:xfrm>
            <a:off x="548640" y="5074920"/>
            <a:ext cx="11091672" cy="749808"/>
          </a:xfrm>
          <a:prstGeom prst="roundRect">
            <a:avLst>
              <a:gd name="adj" fmla="val 7317"/>
            </a:avLst>
          </a:prstGeom>
          <a:solidFill>
            <a:srgbClr val="1F3B63"/>
          </a:solidFill>
          <a:ln w="12700">
            <a:solidFill>
              <a:srgbClr val="1F3B63"/>
            </a:solidFill>
            <a:prstDash val="solid"/>
          </a:ln>
        </p:spPr>
      </p:sp>
      <p:sp>
        <p:nvSpPr>
          <p:cNvPr id="18" name="Text 16"/>
          <p:cNvSpPr/>
          <p:nvPr/>
        </p:nvSpPr>
        <p:spPr>
          <a:xfrm>
            <a:off x="777240" y="512064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So the line ratios measured across HH399 are a mix of two excitation mechanisms, not shock physics alone. No single clean rule holds everywhere in the field.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Emission Lines: How Gas Is Read From Light</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TERMINOLOGY 2 OF 2</a:t>
            </a:r>
            <a:endParaRPr lang="en-US" sz="1100" dirty="0"/>
          </a:p>
        </p:txBody>
      </p:sp>
      <p:sp>
        <p:nvSpPr>
          <p:cNvPr id="4" name="Text 2"/>
          <p:cNvSpPr/>
          <p:nvPr/>
        </p:nvSpPr>
        <p:spPr>
          <a:xfrm>
            <a:off x="548640" y="1417320"/>
            <a:ext cx="11091672" cy="685800"/>
          </a:xfrm>
          <a:prstGeom prst="rect">
            <a:avLst/>
          </a:prstGeom>
          <a:noFill/>
          <a:ln/>
        </p:spPr>
        <p:txBody>
          <a:bodyPr wrap="square" lIns="0" tIns="0" rIns="0" bIns="0" rtlCol="0" anchor="ctr"/>
          <a:lstStyle/>
          <a:p>
            <a:pPr marL="0" indent="0">
              <a:lnSpc>
                <a:spcPts val="1900"/>
              </a:lnSpc>
              <a:buNone/>
            </a:pPr>
            <a:r>
              <a:rPr lang="en-US" sz="1400" dirty="0">
                <a:solidFill>
                  <a:srgbClr val="202020"/>
                </a:solidFill>
                <a:latin typeface="Calibri" pitchFamily="34" charset="0"/>
                <a:ea typeface="Calibri" pitchFamily="34" charset="-122"/>
                <a:cs typeface="Calibri" pitchFamily="34" charset="-120"/>
              </a:rPr>
              <a:t>An emission line is a spike of light at one exact wavelength, produced by one specific ion. Its strength depends on how hot, how dense and how hard-irradiated the gas is. A spaxel is one spatial pixel of the cube, and it carries a full spectrum of its own.</a:t>
            </a:r>
            <a:endParaRPr lang="en-US" sz="1400" dirty="0"/>
          </a:p>
        </p:txBody>
      </p:sp>
      <p:sp>
        <p:nvSpPr>
          <p:cNvPr id="5" name="Shape 3"/>
          <p:cNvSpPr/>
          <p:nvPr/>
        </p:nvSpPr>
        <p:spPr>
          <a:xfrm>
            <a:off x="548640" y="2286000"/>
            <a:ext cx="2670048" cy="1371600"/>
          </a:xfrm>
          <a:prstGeom prst="roundRect">
            <a:avLst>
              <a:gd name="adj" fmla="val 5333"/>
            </a:avLst>
          </a:prstGeom>
          <a:solidFill>
            <a:srgbClr val="EDF1F7"/>
          </a:solidFill>
          <a:ln w="12700">
            <a:solidFill>
              <a:srgbClr val="EDF1F7"/>
            </a:solidFill>
            <a:prstDash val="solid"/>
          </a:ln>
        </p:spPr>
      </p:sp>
      <p:sp>
        <p:nvSpPr>
          <p:cNvPr id="6" name="Text 4"/>
          <p:cNvSpPr/>
          <p:nvPr/>
        </p:nvSpPr>
        <p:spPr>
          <a:xfrm>
            <a:off x="731520" y="2404872"/>
            <a:ext cx="2304288"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Hα  6563 Å</a:t>
            </a:r>
            <a:endParaRPr lang="en-US" sz="1400" dirty="0"/>
          </a:p>
        </p:txBody>
      </p:sp>
      <p:sp>
        <p:nvSpPr>
          <p:cNvPr id="7" name="Text 5"/>
          <p:cNvSpPr/>
          <p:nvPr/>
        </p:nvSpPr>
        <p:spPr>
          <a:xfrm>
            <a:off x="731520" y="2706624"/>
            <a:ext cx="2304288" cy="82296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Hydrogen recombination. The brightest line in the cube and a direct tracer of how much ionised gas is present.</a:t>
            </a:r>
            <a:endParaRPr lang="en-US" sz="1250" dirty="0"/>
          </a:p>
        </p:txBody>
      </p:sp>
      <p:sp>
        <p:nvSpPr>
          <p:cNvPr id="8" name="Shape 6"/>
          <p:cNvSpPr/>
          <p:nvPr/>
        </p:nvSpPr>
        <p:spPr>
          <a:xfrm>
            <a:off x="3355848" y="2286000"/>
            <a:ext cx="2670048" cy="1371600"/>
          </a:xfrm>
          <a:prstGeom prst="roundRect">
            <a:avLst>
              <a:gd name="adj" fmla="val 5333"/>
            </a:avLst>
          </a:prstGeom>
          <a:solidFill>
            <a:srgbClr val="EDF1F7"/>
          </a:solidFill>
          <a:ln w="12700">
            <a:solidFill>
              <a:srgbClr val="EDF1F7"/>
            </a:solidFill>
            <a:prstDash val="solid"/>
          </a:ln>
        </p:spPr>
      </p:sp>
      <p:sp>
        <p:nvSpPr>
          <p:cNvPr id="9" name="Text 7"/>
          <p:cNvSpPr/>
          <p:nvPr/>
        </p:nvSpPr>
        <p:spPr>
          <a:xfrm>
            <a:off x="3538728" y="2404872"/>
            <a:ext cx="2304288"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[N II]  6583 Å</a:t>
            </a:r>
            <a:endParaRPr lang="en-US" sz="1400" dirty="0"/>
          </a:p>
        </p:txBody>
      </p:sp>
      <p:sp>
        <p:nvSpPr>
          <p:cNvPr id="10" name="Text 8"/>
          <p:cNvSpPr/>
          <p:nvPr/>
        </p:nvSpPr>
        <p:spPr>
          <a:xfrm>
            <a:off x="3538728" y="2706624"/>
            <a:ext cx="2304288" cy="82296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Collisionally excited, so it needs harder conditions. It rises sharply where gas has been shock-heated.</a:t>
            </a:r>
            <a:endParaRPr lang="en-US" sz="1250" dirty="0"/>
          </a:p>
        </p:txBody>
      </p:sp>
      <p:sp>
        <p:nvSpPr>
          <p:cNvPr id="11" name="Shape 9"/>
          <p:cNvSpPr/>
          <p:nvPr/>
        </p:nvSpPr>
        <p:spPr>
          <a:xfrm>
            <a:off x="6163056" y="2286000"/>
            <a:ext cx="2670048" cy="1371600"/>
          </a:xfrm>
          <a:prstGeom prst="roundRect">
            <a:avLst>
              <a:gd name="adj" fmla="val 5333"/>
            </a:avLst>
          </a:prstGeom>
          <a:solidFill>
            <a:srgbClr val="EDF1F7"/>
          </a:solidFill>
          <a:ln w="12700">
            <a:solidFill>
              <a:srgbClr val="EDF1F7"/>
            </a:solidFill>
            <a:prstDash val="solid"/>
          </a:ln>
        </p:spPr>
      </p:sp>
      <p:sp>
        <p:nvSpPr>
          <p:cNvPr id="12" name="Text 10"/>
          <p:cNvSpPr/>
          <p:nvPr/>
        </p:nvSpPr>
        <p:spPr>
          <a:xfrm>
            <a:off x="6345936" y="2404872"/>
            <a:ext cx="2304288"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[S II]  6716 / 6731 Å</a:t>
            </a:r>
            <a:endParaRPr lang="en-US" sz="1400" dirty="0"/>
          </a:p>
        </p:txBody>
      </p:sp>
      <p:sp>
        <p:nvSpPr>
          <p:cNvPr id="13" name="Text 11"/>
          <p:cNvSpPr/>
          <p:nvPr/>
        </p:nvSpPr>
        <p:spPr>
          <a:xfrm>
            <a:off x="6345936" y="2706624"/>
            <a:ext cx="2304288" cy="82296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 doublet. The ratio of its two components reads electron density rather than excitation mechanism.</a:t>
            </a:r>
            <a:endParaRPr lang="en-US" sz="1250" dirty="0"/>
          </a:p>
        </p:txBody>
      </p:sp>
      <p:sp>
        <p:nvSpPr>
          <p:cNvPr id="14" name="Shape 12"/>
          <p:cNvSpPr/>
          <p:nvPr/>
        </p:nvSpPr>
        <p:spPr>
          <a:xfrm>
            <a:off x="8970264" y="2286000"/>
            <a:ext cx="2670048" cy="1371600"/>
          </a:xfrm>
          <a:prstGeom prst="roundRect">
            <a:avLst>
              <a:gd name="adj" fmla="val 5333"/>
            </a:avLst>
          </a:prstGeom>
          <a:solidFill>
            <a:srgbClr val="EDF1F7"/>
          </a:solidFill>
          <a:ln w="12700">
            <a:solidFill>
              <a:srgbClr val="EDF1F7"/>
            </a:solidFill>
            <a:prstDash val="solid"/>
          </a:ln>
        </p:spPr>
      </p:sp>
      <p:sp>
        <p:nvSpPr>
          <p:cNvPr id="15" name="Text 13"/>
          <p:cNvSpPr/>
          <p:nvPr/>
        </p:nvSpPr>
        <p:spPr>
          <a:xfrm>
            <a:off x="9153144" y="2404872"/>
            <a:ext cx="2304288"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[O III]  5007 Å</a:t>
            </a:r>
            <a:endParaRPr lang="en-US" sz="1400" dirty="0"/>
          </a:p>
        </p:txBody>
      </p:sp>
      <p:sp>
        <p:nvSpPr>
          <p:cNvPr id="16" name="Text 14"/>
          <p:cNvSpPr/>
          <p:nvPr/>
        </p:nvSpPr>
        <p:spPr>
          <a:xfrm>
            <a:off x="9153144" y="2706624"/>
            <a:ext cx="2304288" cy="82296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 high-</a:t>
            </a:r>
            <a:r>
              <a:rPr lang="en-US" sz="1250" dirty="0" err="1">
                <a:solidFill>
                  <a:srgbClr val="202020"/>
                </a:solidFill>
                <a:latin typeface="Calibri" pitchFamily="34" charset="0"/>
                <a:ea typeface="Calibri" pitchFamily="34" charset="-122"/>
                <a:cs typeface="Calibri" pitchFamily="34" charset="-120"/>
              </a:rPr>
              <a:t>ionisation</a:t>
            </a:r>
            <a:r>
              <a:rPr lang="en-US" sz="1250" dirty="0">
                <a:solidFill>
                  <a:srgbClr val="202020"/>
                </a:solidFill>
                <a:latin typeface="Calibri" pitchFamily="34" charset="0"/>
                <a:ea typeface="Calibri" pitchFamily="34" charset="-122"/>
                <a:cs typeface="Calibri" pitchFamily="34" charset="-120"/>
              </a:rPr>
              <a:t> line, treated as evidence of fast shocks above roughly 100 km/s.</a:t>
            </a:r>
            <a:endParaRPr lang="en-US" sz="1250" dirty="0"/>
          </a:p>
        </p:txBody>
      </p:sp>
      <p:sp>
        <p:nvSpPr>
          <p:cNvPr id="17" name="Shape 15"/>
          <p:cNvSpPr/>
          <p:nvPr/>
        </p:nvSpPr>
        <p:spPr>
          <a:xfrm>
            <a:off x="548640" y="3886200"/>
            <a:ext cx="5440680" cy="1417320"/>
          </a:xfrm>
          <a:prstGeom prst="roundRect">
            <a:avLst>
              <a:gd name="adj" fmla="val 5161"/>
            </a:avLst>
          </a:prstGeom>
          <a:solidFill>
            <a:srgbClr val="FBF2DF"/>
          </a:solidFill>
          <a:ln w="12700">
            <a:solidFill>
              <a:srgbClr val="FBF2DF"/>
            </a:solidFill>
            <a:prstDash val="solid"/>
          </a:ln>
        </p:spPr>
      </p:sp>
      <p:sp>
        <p:nvSpPr>
          <p:cNvPr id="18" name="Text 16"/>
          <p:cNvSpPr/>
          <p:nvPr/>
        </p:nvSpPr>
        <p:spPr>
          <a:xfrm>
            <a:off x="731520" y="4005072"/>
            <a:ext cx="507492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Line ratio = the actual diagnostic</a:t>
            </a:r>
            <a:endParaRPr lang="en-US" sz="1400" dirty="0"/>
          </a:p>
        </p:txBody>
      </p:sp>
      <p:sp>
        <p:nvSpPr>
          <p:cNvPr id="19" name="Text 17"/>
          <p:cNvSpPr/>
          <p:nvPr/>
        </p:nvSpPr>
        <p:spPr>
          <a:xfrm>
            <a:off x="731520" y="4306824"/>
            <a:ext cx="507492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Dividing one line map by another cancels out brightness, distance and exposure depth, leaving behind the physics. This is the BPT tradition (Baldwin, Phillips &amp; Terlevich 1981).</a:t>
            </a:r>
            <a:endParaRPr lang="en-US" sz="1250" dirty="0"/>
          </a:p>
        </p:txBody>
      </p:sp>
      <p:sp>
        <p:nvSpPr>
          <p:cNvPr id="20" name="Shape 18"/>
          <p:cNvSpPr/>
          <p:nvPr/>
        </p:nvSpPr>
        <p:spPr>
          <a:xfrm>
            <a:off x="6199632" y="3886200"/>
            <a:ext cx="5440680" cy="1417320"/>
          </a:xfrm>
          <a:prstGeom prst="roundRect">
            <a:avLst>
              <a:gd name="adj" fmla="val 5161"/>
            </a:avLst>
          </a:prstGeom>
          <a:solidFill>
            <a:srgbClr val="FBF2DF"/>
          </a:solidFill>
          <a:ln w="12700">
            <a:solidFill>
              <a:srgbClr val="FBF2DF"/>
            </a:solidFill>
            <a:prstDash val="solid"/>
          </a:ln>
        </p:spPr>
      </p:sp>
      <p:sp>
        <p:nvSpPr>
          <p:cNvPr id="21" name="Text 19"/>
          <p:cNvSpPr/>
          <p:nvPr/>
        </p:nvSpPr>
        <p:spPr>
          <a:xfrm>
            <a:off x="6382512" y="4005072"/>
            <a:ext cx="507492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Why it matters for this project</a:t>
            </a:r>
            <a:endParaRPr lang="en-US" sz="1400" dirty="0"/>
          </a:p>
        </p:txBody>
      </p:sp>
      <p:sp>
        <p:nvSpPr>
          <p:cNvPr id="22" name="Text 20"/>
          <p:cNvSpPr/>
          <p:nvPr/>
        </p:nvSpPr>
        <p:spPr>
          <a:xfrm>
            <a:off x="6382512" y="4306824"/>
            <a:ext cx="507492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Every model in this project is unsupervised. These ratio maps are the only independent, physically motivated check any of them gets.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The Problem</a:t>
            </a:r>
            <a:endParaRPr lang="en-US" sz="2800" dirty="0"/>
          </a:p>
        </p:txBody>
      </p:sp>
      <p:sp>
        <p:nvSpPr>
          <p:cNvPr id="3" name="Shape 1"/>
          <p:cNvSpPr/>
          <p:nvPr/>
        </p:nvSpPr>
        <p:spPr>
          <a:xfrm>
            <a:off x="548640" y="1554480"/>
            <a:ext cx="3566160" cy="2286000"/>
          </a:xfrm>
          <a:prstGeom prst="roundRect">
            <a:avLst>
              <a:gd name="adj" fmla="val 3200"/>
            </a:avLst>
          </a:prstGeom>
          <a:solidFill>
            <a:srgbClr val="EDF1F7"/>
          </a:solidFill>
          <a:ln w="12700">
            <a:solidFill>
              <a:srgbClr val="EDF1F7"/>
            </a:solidFill>
            <a:prstDash val="solid"/>
          </a:ln>
        </p:spPr>
      </p:sp>
      <p:sp>
        <p:nvSpPr>
          <p:cNvPr id="4" name="Text 2"/>
          <p:cNvSpPr/>
          <p:nvPr/>
        </p:nvSpPr>
        <p:spPr>
          <a:xfrm>
            <a:off x="731520" y="1673352"/>
            <a:ext cx="3200400" cy="274320"/>
          </a:xfrm>
          <a:prstGeom prst="rect">
            <a:avLst/>
          </a:prstGeom>
          <a:noFill/>
          <a:ln/>
        </p:spPr>
        <p:txBody>
          <a:bodyPr wrap="square" lIns="0" tIns="0" rIns="0" bIns="0" rtlCol="0" anchor="ctr"/>
          <a:lstStyle/>
          <a:p>
            <a:pPr marL="0" indent="0">
              <a:buNone/>
            </a:pPr>
            <a:r>
              <a:rPr lang="en-US" sz="1600" b="1" dirty="0">
                <a:solidFill>
                  <a:srgbClr val="1F3B63"/>
                </a:solidFill>
                <a:latin typeface="Calibri" pitchFamily="34" charset="0"/>
                <a:ea typeface="Calibri" pitchFamily="34" charset="-122"/>
                <a:cs typeface="Calibri" pitchFamily="34" charset="-120"/>
              </a:rPr>
              <a:t>Scale</a:t>
            </a:r>
            <a:endParaRPr lang="en-US" sz="1600" dirty="0"/>
          </a:p>
        </p:txBody>
      </p:sp>
      <p:sp>
        <p:nvSpPr>
          <p:cNvPr id="5" name="Text 3"/>
          <p:cNvSpPr/>
          <p:nvPr/>
        </p:nvSpPr>
        <p:spPr>
          <a:xfrm>
            <a:off x="731520" y="1975104"/>
            <a:ext cx="3200400" cy="1737360"/>
          </a:xfrm>
          <a:prstGeom prst="rect">
            <a:avLst/>
          </a:prstGeom>
          <a:noFill/>
          <a:ln/>
        </p:spPr>
        <p:txBody>
          <a:bodyPr wrap="square" lIns="0" tIns="0" rIns="0" bIns="0" rtlCol="0" anchor="t"/>
          <a:lstStyle/>
          <a:p>
            <a:pPr marL="0" indent="0">
              <a:lnSpc>
                <a:spcPts val="1625"/>
              </a:lnSpc>
              <a:buNone/>
            </a:pPr>
            <a:r>
              <a:rPr lang="en-US" sz="1300" dirty="0">
                <a:solidFill>
                  <a:srgbClr val="202020"/>
                </a:solidFill>
                <a:latin typeface="Calibri" pitchFamily="34" charset="0"/>
                <a:ea typeface="Calibri" pitchFamily="34" charset="-122"/>
                <a:cs typeface="Calibri" pitchFamily="34" charset="-120"/>
              </a:rPr>
              <a:t>The cube holds 96,093 usable spectra. The standard method is to compare emission-line ratios by hand, spaxel by spaxel, and judge the structure by eye. That does not scale, and it bakes in the analyst's own expectations about where the jet should be.</a:t>
            </a:r>
            <a:endParaRPr lang="en-US" sz="1300" dirty="0"/>
          </a:p>
        </p:txBody>
      </p:sp>
      <p:sp>
        <p:nvSpPr>
          <p:cNvPr id="6" name="Shape 4"/>
          <p:cNvSpPr/>
          <p:nvPr/>
        </p:nvSpPr>
        <p:spPr>
          <a:xfrm>
            <a:off x="4315968" y="1554480"/>
            <a:ext cx="3566160" cy="2286000"/>
          </a:xfrm>
          <a:prstGeom prst="roundRect">
            <a:avLst>
              <a:gd name="adj" fmla="val 3200"/>
            </a:avLst>
          </a:prstGeom>
          <a:solidFill>
            <a:srgbClr val="EDF1F7"/>
          </a:solidFill>
          <a:ln w="12700">
            <a:solidFill>
              <a:srgbClr val="EDF1F7"/>
            </a:solidFill>
            <a:prstDash val="solid"/>
          </a:ln>
        </p:spPr>
      </p:sp>
      <p:sp>
        <p:nvSpPr>
          <p:cNvPr id="7" name="Text 5"/>
          <p:cNvSpPr/>
          <p:nvPr/>
        </p:nvSpPr>
        <p:spPr>
          <a:xfrm>
            <a:off x="4498848" y="1673352"/>
            <a:ext cx="3200400" cy="274320"/>
          </a:xfrm>
          <a:prstGeom prst="rect">
            <a:avLst/>
          </a:prstGeom>
          <a:noFill/>
          <a:ln/>
        </p:spPr>
        <p:txBody>
          <a:bodyPr wrap="square" lIns="0" tIns="0" rIns="0" bIns="0" rtlCol="0" anchor="ctr"/>
          <a:lstStyle/>
          <a:p>
            <a:pPr marL="0" indent="0">
              <a:buNone/>
            </a:pPr>
            <a:r>
              <a:rPr lang="en-US" sz="1600" b="1" dirty="0">
                <a:solidFill>
                  <a:srgbClr val="1F3B63"/>
                </a:solidFill>
                <a:latin typeface="Calibri" pitchFamily="34" charset="0"/>
                <a:ea typeface="Calibri" pitchFamily="34" charset="-122"/>
                <a:cs typeface="Calibri" pitchFamily="34" charset="-120"/>
              </a:rPr>
              <a:t>Blended physics</a:t>
            </a:r>
            <a:endParaRPr lang="en-US" sz="1600" dirty="0"/>
          </a:p>
        </p:txBody>
      </p:sp>
      <p:sp>
        <p:nvSpPr>
          <p:cNvPr id="8" name="Text 6"/>
          <p:cNvSpPr/>
          <p:nvPr/>
        </p:nvSpPr>
        <p:spPr>
          <a:xfrm>
            <a:off x="4498848" y="1975104"/>
            <a:ext cx="3200400" cy="1737360"/>
          </a:xfrm>
          <a:prstGeom prst="rect">
            <a:avLst/>
          </a:prstGeom>
          <a:noFill/>
          <a:ln/>
        </p:spPr>
        <p:txBody>
          <a:bodyPr wrap="square" lIns="0" tIns="0" rIns="0" bIns="0" rtlCol="0" anchor="t"/>
          <a:lstStyle/>
          <a:p>
            <a:pPr marL="0" indent="0">
              <a:lnSpc>
                <a:spcPts val="1625"/>
              </a:lnSpc>
              <a:buNone/>
            </a:pPr>
            <a:r>
              <a:rPr lang="en-US" sz="1300" dirty="0">
                <a:solidFill>
                  <a:srgbClr val="202020"/>
                </a:solidFill>
                <a:latin typeface="Calibri" pitchFamily="34" charset="0"/>
                <a:ea typeface="Calibri" pitchFamily="34" charset="-122"/>
                <a:cs typeface="Calibri" pitchFamily="34" charset="-120"/>
              </a:rPr>
              <a:t>HH399's emission mixes internal shock excitation with external photoionisation from the O7.5 star. A rule calibrated on a quiet HH object cannot simply be assumed to hold across this whole field.</a:t>
            </a:r>
            <a:endParaRPr lang="en-US" sz="1300" dirty="0"/>
          </a:p>
        </p:txBody>
      </p:sp>
      <p:sp>
        <p:nvSpPr>
          <p:cNvPr id="9" name="Shape 7"/>
          <p:cNvSpPr/>
          <p:nvPr/>
        </p:nvSpPr>
        <p:spPr>
          <a:xfrm>
            <a:off x="8074152" y="1554480"/>
            <a:ext cx="3566160" cy="2286000"/>
          </a:xfrm>
          <a:prstGeom prst="roundRect">
            <a:avLst>
              <a:gd name="adj" fmla="val 3200"/>
            </a:avLst>
          </a:prstGeom>
          <a:solidFill>
            <a:srgbClr val="EDF1F7"/>
          </a:solidFill>
          <a:ln w="12700">
            <a:solidFill>
              <a:srgbClr val="EDF1F7"/>
            </a:solidFill>
            <a:prstDash val="solid"/>
          </a:ln>
        </p:spPr>
      </p:sp>
      <p:sp>
        <p:nvSpPr>
          <p:cNvPr id="10" name="Text 8"/>
          <p:cNvSpPr/>
          <p:nvPr/>
        </p:nvSpPr>
        <p:spPr>
          <a:xfrm>
            <a:off x="8257032" y="1673352"/>
            <a:ext cx="3200400" cy="274320"/>
          </a:xfrm>
          <a:prstGeom prst="rect">
            <a:avLst/>
          </a:prstGeom>
          <a:noFill/>
          <a:ln/>
        </p:spPr>
        <p:txBody>
          <a:bodyPr wrap="square" lIns="0" tIns="0" rIns="0" bIns="0" rtlCol="0" anchor="ctr"/>
          <a:lstStyle/>
          <a:p>
            <a:pPr marL="0" indent="0">
              <a:buNone/>
            </a:pPr>
            <a:r>
              <a:rPr lang="en-US" sz="1600" b="1" dirty="0">
                <a:solidFill>
                  <a:srgbClr val="1F3B63"/>
                </a:solidFill>
                <a:latin typeface="Calibri" pitchFamily="34" charset="0"/>
                <a:ea typeface="Calibri" pitchFamily="34" charset="-122"/>
                <a:cs typeface="Calibri" pitchFamily="34" charset="-120"/>
              </a:rPr>
              <a:t>No ground truth</a:t>
            </a:r>
            <a:endParaRPr lang="en-US" sz="1600" dirty="0"/>
          </a:p>
        </p:txBody>
      </p:sp>
      <p:sp>
        <p:nvSpPr>
          <p:cNvPr id="11" name="Text 9"/>
          <p:cNvSpPr/>
          <p:nvPr/>
        </p:nvSpPr>
        <p:spPr>
          <a:xfrm>
            <a:off x="8257032" y="1975104"/>
            <a:ext cx="3200400" cy="1737360"/>
          </a:xfrm>
          <a:prstGeom prst="rect">
            <a:avLst/>
          </a:prstGeom>
          <a:noFill/>
          <a:ln/>
        </p:spPr>
        <p:txBody>
          <a:bodyPr wrap="square" lIns="0" tIns="0" rIns="0" bIns="0" rtlCol="0" anchor="t"/>
          <a:lstStyle/>
          <a:p>
            <a:pPr marL="0" indent="0">
              <a:lnSpc>
                <a:spcPts val="1625"/>
              </a:lnSpc>
              <a:buNone/>
            </a:pPr>
            <a:r>
              <a:rPr lang="en-US" sz="1300" dirty="0">
                <a:solidFill>
                  <a:srgbClr val="202020"/>
                </a:solidFill>
                <a:latin typeface="Calibri" pitchFamily="34" charset="0"/>
                <a:ea typeface="Calibri" pitchFamily="34" charset="-122"/>
                <a:cs typeface="Calibri" pitchFamily="34" charset="-120"/>
              </a:rPr>
              <a:t>Nobody has gone through the HH399 cube and labelled every spaxel as jet, diffuse gas or point source. There is no accuracy figure to report for region mapping, and no labels to train on.</a:t>
            </a:r>
            <a:endParaRPr lang="en-US" sz="1300" dirty="0"/>
          </a:p>
        </p:txBody>
      </p:sp>
      <p:sp>
        <p:nvSpPr>
          <p:cNvPr id="12" name="Shape 10"/>
          <p:cNvSpPr/>
          <p:nvPr/>
        </p:nvSpPr>
        <p:spPr>
          <a:xfrm>
            <a:off x="548640" y="4206240"/>
            <a:ext cx="11091672" cy="749808"/>
          </a:xfrm>
          <a:prstGeom prst="roundRect">
            <a:avLst>
              <a:gd name="adj" fmla="val 7317"/>
            </a:avLst>
          </a:prstGeom>
          <a:solidFill>
            <a:srgbClr val="1F3B63"/>
          </a:solidFill>
          <a:ln w="12700">
            <a:solidFill>
              <a:srgbClr val="1F3B63"/>
            </a:solidFill>
            <a:prstDash val="solid"/>
          </a:ln>
        </p:spPr>
      </p:sp>
      <p:sp>
        <p:nvSpPr>
          <p:cNvPr id="13" name="Text 11"/>
          <p:cNvSpPr/>
          <p:nvPr/>
        </p:nvSpPr>
        <p:spPr>
          <a:xfrm>
            <a:off x="777240" y="425196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THE QUESTION: can a model with no labels, no rules and no physics built into it rediscover the same jet-versus-background boundary that astronomers draw by hand?</a:t>
            </a:r>
            <a:endParaRPr lang="en-US" sz="1400" dirty="0"/>
          </a:p>
        </p:txBody>
      </p:sp>
      <p:sp>
        <p:nvSpPr>
          <p:cNvPr id="14" name="Text 12"/>
          <p:cNvSpPr/>
          <p:nvPr/>
        </p:nvSpPr>
        <p:spPr>
          <a:xfrm>
            <a:off x="548640" y="5257800"/>
            <a:ext cx="11091672" cy="457200"/>
          </a:xfrm>
          <a:prstGeom prst="rect">
            <a:avLst/>
          </a:prstGeom>
          <a:noFill/>
          <a:ln/>
        </p:spPr>
        <p:txBody>
          <a:bodyPr wrap="square" lIns="0" tIns="0" rIns="0" bIns="0" rtlCol="0" anchor="ctr"/>
          <a:lstStyle/>
          <a:p>
            <a:pPr marL="0" indent="0">
              <a:buNone/>
            </a:pPr>
            <a:r>
              <a:rPr lang="en-US" sz="1300" i="1" dirty="0">
                <a:solidFill>
                  <a:srgbClr val="5B6675"/>
                </a:solidFill>
                <a:latin typeface="Calibri" pitchFamily="34" charset="0"/>
                <a:ea typeface="Calibri" pitchFamily="34" charset="-122"/>
                <a:cs typeface="Calibri" pitchFamily="34" charset="-120"/>
              </a:rPr>
              <a:t>If it can, that boundary is more likely to be real structure in HH399 than an artefact of how any one method was set up.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Objectives</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FIVE TARGETS, EACH WITH ITS OWN SUCCESS METRIC</a:t>
            </a:r>
            <a:endParaRPr lang="en-US" sz="1100" dirty="0"/>
          </a:p>
        </p:txBody>
      </p:sp>
      <p:sp>
        <p:nvSpPr>
          <p:cNvPr id="4" name="Shape 2"/>
          <p:cNvSpPr/>
          <p:nvPr/>
        </p:nvSpPr>
        <p:spPr>
          <a:xfrm>
            <a:off x="548640" y="1481328"/>
            <a:ext cx="11091672" cy="932688"/>
          </a:xfrm>
          <a:prstGeom prst="roundRect">
            <a:avLst>
              <a:gd name="adj" fmla="val 5882"/>
            </a:avLst>
          </a:prstGeom>
          <a:solidFill>
            <a:srgbClr val="EDF1F7"/>
          </a:solidFill>
          <a:ln w="12700">
            <a:solidFill>
              <a:srgbClr val="EDF1F7"/>
            </a:solidFill>
            <a:prstDash val="solid"/>
          </a:ln>
        </p:spPr>
      </p:sp>
      <p:sp>
        <p:nvSpPr>
          <p:cNvPr id="5" name="Shape 3"/>
          <p:cNvSpPr/>
          <p:nvPr/>
        </p:nvSpPr>
        <p:spPr>
          <a:xfrm>
            <a:off x="713232" y="1664208"/>
            <a:ext cx="384048" cy="384048"/>
          </a:xfrm>
          <a:prstGeom prst="roundRect">
            <a:avLst>
              <a:gd name="adj" fmla="val 23810"/>
            </a:avLst>
          </a:prstGeom>
          <a:solidFill>
            <a:srgbClr val="1F3B63"/>
          </a:solidFill>
          <a:ln w="12700">
            <a:solidFill>
              <a:srgbClr val="1F3B63"/>
            </a:solidFill>
            <a:prstDash val="solid"/>
          </a:ln>
        </p:spPr>
      </p:sp>
      <p:sp>
        <p:nvSpPr>
          <p:cNvPr id="6" name="Text 4"/>
          <p:cNvSpPr/>
          <p:nvPr/>
        </p:nvSpPr>
        <p:spPr>
          <a:xfrm>
            <a:off x="713232" y="1664208"/>
            <a:ext cx="384048" cy="384048"/>
          </a:xfrm>
          <a:prstGeom prst="rect">
            <a:avLst/>
          </a:prstGeom>
          <a:noFill/>
          <a:ln/>
        </p:spPr>
        <p:txBody>
          <a:bodyPr wrap="square" lIns="0" tIns="0" rIns="0" bIns="0" rtlCol="0" anchor="ctr"/>
          <a:lstStyle/>
          <a:p>
            <a:pPr marL="0" indent="0" algn="ctr">
              <a:buNone/>
            </a:pPr>
            <a:r>
              <a:rPr lang="en-US" sz="1300" b="1" dirty="0">
                <a:solidFill>
                  <a:srgbClr val="E8A61E"/>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61872" y="1591056"/>
            <a:ext cx="3200400" cy="457200"/>
          </a:xfrm>
          <a:prstGeom prst="rect">
            <a:avLst/>
          </a:prstGeom>
          <a:noFill/>
          <a:ln/>
        </p:spPr>
        <p:txBody>
          <a:bodyPr wrap="square" lIns="0" tIns="0" rIns="0" bIns="0" rtlCol="0" anchor="ctr"/>
          <a:lstStyle/>
          <a:p>
            <a:pPr marL="0" indent="0">
              <a:buNone/>
            </a:pPr>
            <a:r>
              <a:rPr lang="en-US" sz="1350" b="1" dirty="0">
                <a:solidFill>
                  <a:srgbClr val="1F3B63"/>
                </a:solidFill>
                <a:latin typeface="Calibri" pitchFamily="34" charset="0"/>
                <a:ea typeface="Calibri" pitchFamily="34" charset="-122"/>
                <a:cs typeface="Calibri" pitchFamily="34" charset="-120"/>
              </a:rPr>
              <a:t>Physical baseline</a:t>
            </a:r>
            <a:endParaRPr lang="en-US" sz="1350" dirty="0"/>
          </a:p>
        </p:txBody>
      </p:sp>
      <p:sp>
        <p:nvSpPr>
          <p:cNvPr id="8" name="Text 6"/>
          <p:cNvSpPr/>
          <p:nvPr/>
        </p:nvSpPr>
        <p:spPr>
          <a:xfrm>
            <a:off x="4526280" y="1572768"/>
            <a:ext cx="6949440" cy="749808"/>
          </a:xfrm>
          <a:prstGeom prst="rect">
            <a:avLst/>
          </a:prstGeom>
          <a:noFill/>
          <a:ln/>
        </p:spPr>
        <p:txBody>
          <a:bodyPr wrap="square" lIns="0" tIns="0" rIns="0" bIns="0" rtlCol="0" anchor="ctr"/>
          <a:lstStyle/>
          <a:p>
            <a:pPr marL="0" indent="0">
              <a:lnSpc>
                <a:spcPts val="1400"/>
              </a:lnSpc>
              <a:buNone/>
            </a:pPr>
            <a:r>
              <a:rPr lang="en-US" sz="1150" dirty="0">
                <a:solidFill>
                  <a:srgbClr val="202020"/>
                </a:solidFill>
                <a:latin typeface="Calibri" pitchFamily="34" charset="0"/>
                <a:ea typeface="Calibri" pitchFamily="34" charset="-122"/>
                <a:cs typeface="Calibri" pitchFamily="34" charset="-120"/>
              </a:rPr>
              <a:t>Continuum-subtracted line and line-ratio maps for every spaxel, so every later model has an independent check to be judged against. Measured by signal-to-noise-masked coverage of the jet.</a:t>
            </a:r>
            <a:endParaRPr lang="en-US" sz="1150" dirty="0"/>
          </a:p>
        </p:txBody>
      </p:sp>
      <p:sp>
        <p:nvSpPr>
          <p:cNvPr id="9" name="Shape 7"/>
          <p:cNvSpPr/>
          <p:nvPr/>
        </p:nvSpPr>
        <p:spPr>
          <a:xfrm>
            <a:off x="548640" y="2496312"/>
            <a:ext cx="11091672" cy="932688"/>
          </a:xfrm>
          <a:prstGeom prst="roundRect">
            <a:avLst>
              <a:gd name="adj" fmla="val 5882"/>
            </a:avLst>
          </a:prstGeom>
          <a:solidFill>
            <a:srgbClr val="FFFFFF"/>
          </a:solidFill>
          <a:ln w="12700">
            <a:solidFill>
              <a:srgbClr val="EDF1F7"/>
            </a:solidFill>
            <a:prstDash val="solid"/>
          </a:ln>
        </p:spPr>
      </p:sp>
      <p:sp>
        <p:nvSpPr>
          <p:cNvPr id="10" name="Shape 8"/>
          <p:cNvSpPr/>
          <p:nvPr/>
        </p:nvSpPr>
        <p:spPr>
          <a:xfrm>
            <a:off x="713232" y="2679192"/>
            <a:ext cx="384048" cy="384048"/>
          </a:xfrm>
          <a:prstGeom prst="roundRect">
            <a:avLst>
              <a:gd name="adj" fmla="val 23810"/>
            </a:avLst>
          </a:prstGeom>
          <a:solidFill>
            <a:srgbClr val="1F3B63"/>
          </a:solidFill>
          <a:ln w="12700">
            <a:solidFill>
              <a:srgbClr val="1F3B63"/>
            </a:solidFill>
            <a:prstDash val="solid"/>
          </a:ln>
        </p:spPr>
      </p:sp>
      <p:sp>
        <p:nvSpPr>
          <p:cNvPr id="11" name="Text 9"/>
          <p:cNvSpPr/>
          <p:nvPr/>
        </p:nvSpPr>
        <p:spPr>
          <a:xfrm>
            <a:off x="713232" y="2679192"/>
            <a:ext cx="384048" cy="384048"/>
          </a:xfrm>
          <a:prstGeom prst="rect">
            <a:avLst/>
          </a:prstGeom>
          <a:noFill/>
          <a:ln/>
        </p:spPr>
        <p:txBody>
          <a:bodyPr wrap="square" lIns="0" tIns="0" rIns="0" bIns="0" rtlCol="0" anchor="ctr"/>
          <a:lstStyle/>
          <a:p>
            <a:pPr marL="0" indent="0" algn="ctr">
              <a:buNone/>
            </a:pPr>
            <a:r>
              <a:rPr lang="en-US" sz="1300" b="1" dirty="0">
                <a:solidFill>
                  <a:srgbClr val="E8A61E"/>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61872" y="2606040"/>
            <a:ext cx="3200400" cy="457200"/>
          </a:xfrm>
          <a:prstGeom prst="rect">
            <a:avLst/>
          </a:prstGeom>
          <a:noFill/>
          <a:ln/>
        </p:spPr>
        <p:txBody>
          <a:bodyPr wrap="square" lIns="0" tIns="0" rIns="0" bIns="0" rtlCol="0" anchor="ctr"/>
          <a:lstStyle/>
          <a:p>
            <a:pPr marL="0" indent="0">
              <a:buNone/>
            </a:pPr>
            <a:r>
              <a:rPr lang="en-US" sz="1350" b="1" dirty="0">
                <a:solidFill>
                  <a:srgbClr val="1F3B63"/>
                </a:solidFill>
                <a:latin typeface="Calibri" pitchFamily="34" charset="0"/>
                <a:ea typeface="Calibri" pitchFamily="34" charset="-122"/>
                <a:cs typeface="Calibri" pitchFamily="34" charset="-120"/>
              </a:rPr>
              <a:t>Self-supervised region mapping (Model 1)</a:t>
            </a:r>
            <a:endParaRPr lang="en-US" sz="1350" dirty="0"/>
          </a:p>
        </p:txBody>
      </p:sp>
      <p:sp>
        <p:nvSpPr>
          <p:cNvPr id="13" name="Text 11"/>
          <p:cNvSpPr/>
          <p:nvPr/>
        </p:nvSpPr>
        <p:spPr>
          <a:xfrm>
            <a:off x="4526280" y="2587752"/>
            <a:ext cx="6949440" cy="749808"/>
          </a:xfrm>
          <a:prstGeom prst="rect">
            <a:avLst/>
          </a:prstGeom>
          <a:noFill/>
          <a:ln/>
        </p:spPr>
        <p:txBody>
          <a:bodyPr wrap="square" lIns="0" tIns="0" rIns="0" bIns="0" rtlCol="0" anchor="ctr"/>
          <a:lstStyle/>
          <a:p>
            <a:pPr marL="0" indent="0">
              <a:lnSpc>
                <a:spcPts val="1400"/>
              </a:lnSpc>
              <a:buNone/>
            </a:pPr>
            <a:r>
              <a:rPr lang="en-US" sz="1150" dirty="0">
                <a:solidFill>
                  <a:srgbClr val="202020"/>
                </a:solidFill>
                <a:latin typeface="Calibri" pitchFamily="34" charset="0"/>
                <a:ea typeface="Calibri" pitchFamily="34" charset="-122"/>
                <a:cs typeface="Calibri" pitchFamily="34" charset="-120"/>
              </a:rPr>
              <a:t>Learn spectral-spatial embeddings that recover jet, diffuse background and point sources with no labels of any kind. Measured by ARI on synthetic data, retrieval accuracy and agreement with the baseline.</a:t>
            </a:r>
            <a:endParaRPr lang="en-US" sz="1150" dirty="0"/>
          </a:p>
        </p:txBody>
      </p:sp>
      <p:sp>
        <p:nvSpPr>
          <p:cNvPr id="14" name="Shape 12"/>
          <p:cNvSpPr/>
          <p:nvPr/>
        </p:nvSpPr>
        <p:spPr>
          <a:xfrm>
            <a:off x="548640" y="3511296"/>
            <a:ext cx="11091672" cy="932688"/>
          </a:xfrm>
          <a:prstGeom prst="roundRect">
            <a:avLst>
              <a:gd name="adj" fmla="val 5882"/>
            </a:avLst>
          </a:prstGeom>
          <a:solidFill>
            <a:srgbClr val="EDF1F7"/>
          </a:solidFill>
          <a:ln w="12700">
            <a:solidFill>
              <a:srgbClr val="EDF1F7"/>
            </a:solidFill>
            <a:prstDash val="solid"/>
          </a:ln>
        </p:spPr>
      </p:sp>
      <p:sp>
        <p:nvSpPr>
          <p:cNvPr id="15" name="Shape 13"/>
          <p:cNvSpPr/>
          <p:nvPr/>
        </p:nvSpPr>
        <p:spPr>
          <a:xfrm>
            <a:off x="713232" y="3694176"/>
            <a:ext cx="384048" cy="384048"/>
          </a:xfrm>
          <a:prstGeom prst="roundRect">
            <a:avLst>
              <a:gd name="adj" fmla="val 23810"/>
            </a:avLst>
          </a:prstGeom>
          <a:solidFill>
            <a:srgbClr val="1F3B63"/>
          </a:solidFill>
          <a:ln w="12700">
            <a:solidFill>
              <a:srgbClr val="1F3B63"/>
            </a:solidFill>
            <a:prstDash val="solid"/>
          </a:ln>
        </p:spPr>
      </p:sp>
      <p:sp>
        <p:nvSpPr>
          <p:cNvPr id="16" name="Text 14"/>
          <p:cNvSpPr/>
          <p:nvPr/>
        </p:nvSpPr>
        <p:spPr>
          <a:xfrm>
            <a:off x="713232" y="3694176"/>
            <a:ext cx="384048" cy="384048"/>
          </a:xfrm>
          <a:prstGeom prst="rect">
            <a:avLst/>
          </a:prstGeom>
          <a:noFill/>
          <a:ln/>
        </p:spPr>
        <p:txBody>
          <a:bodyPr wrap="square" lIns="0" tIns="0" rIns="0" bIns="0" rtlCol="0" anchor="ctr"/>
          <a:lstStyle/>
          <a:p>
            <a:pPr marL="0" indent="0" algn="ctr">
              <a:buNone/>
            </a:pPr>
            <a:r>
              <a:rPr lang="en-US" sz="1300" b="1" dirty="0">
                <a:solidFill>
                  <a:srgbClr val="E8A61E"/>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261872" y="3621024"/>
            <a:ext cx="3200400" cy="457200"/>
          </a:xfrm>
          <a:prstGeom prst="rect">
            <a:avLst/>
          </a:prstGeom>
          <a:noFill/>
          <a:ln/>
        </p:spPr>
        <p:txBody>
          <a:bodyPr wrap="square" lIns="0" tIns="0" rIns="0" bIns="0" rtlCol="0" anchor="ctr"/>
          <a:lstStyle/>
          <a:p>
            <a:pPr marL="0" indent="0">
              <a:buNone/>
            </a:pPr>
            <a:r>
              <a:rPr lang="en-US" sz="1350" b="1" dirty="0">
                <a:solidFill>
                  <a:srgbClr val="1F3B63"/>
                </a:solidFill>
                <a:latin typeface="Calibri" pitchFamily="34" charset="0"/>
                <a:ea typeface="Calibri" pitchFamily="34" charset="-122"/>
                <a:cs typeface="Calibri" pitchFamily="34" charset="-120"/>
              </a:rPr>
              <a:t>Zero-shot classification (Model 2)</a:t>
            </a:r>
            <a:endParaRPr lang="en-US" sz="1350" dirty="0"/>
          </a:p>
        </p:txBody>
      </p:sp>
      <p:sp>
        <p:nvSpPr>
          <p:cNvPr id="18" name="Text 16"/>
          <p:cNvSpPr/>
          <p:nvPr/>
        </p:nvSpPr>
        <p:spPr>
          <a:xfrm>
            <a:off x="4526280" y="3602736"/>
            <a:ext cx="6949440" cy="749808"/>
          </a:xfrm>
          <a:prstGeom prst="rect">
            <a:avLst/>
          </a:prstGeom>
          <a:noFill/>
          <a:ln/>
        </p:spPr>
        <p:txBody>
          <a:bodyPr wrap="square" lIns="0" tIns="0" rIns="0" bIns="0" rtlCol="0" anchor="ctr"/>
          <a:lstStyle/>
          <a:p>
            <a:pPr marL="0" indent="0">
              <a:lnSpc>
                <a:spcPts val="1400"/>
              </a:lnSpc>
              <a:buNone/>
            </a:pPr>
            <a:r>
              <a:rPr lang="en-US" sz="1150" dirty="0">
                <a:solidFill>
                  <a:srgbClr val="202020"/>
                </a:solidFill>
                <a:latin typeface="Calibri" pitchFamily="34" charset="0"/>
                <a:ea typeface="Calibri" pitchFamily="34" charset="-122"/>
                <a:cs typeface="Calibri" pitchFamily="34" charset="-120"/>
              </a:rPr>
              <a:t>Classify real spectra against plain-English class prompts, with no fixed classifier head, on both a generic benchmark and the project's own FEROS targets. Measured by accuracy and confusion matrices.</a:t>
            </a:r>
            <a:endParaRPr lang="en-US" sz="1150" dirty="0"/>
          </a:p>
        </p:txBody>
      </p:sp>
      <p:sp>
        <p:nvSpPr>
          <p:cNvPr id="19" name="Shape 17"/>
          <p:cNvSpPr/>
          <p:nvPr/>
        </p:nvSpPr>
        <p:spPr>
          <a:xfrm>
            <a:off x="548640" y="4526280"/>
            <a:ext cx="11091672" cy="932688"/>
          </a:xfrm>
          <a:prstGeom prst="roundRect">
            <a:avLst>
              <a:gd name="adj" fmla="val 5882"/>
            </a:avLst>
          </a:prstGeom>
          <a:solidFill>
            <a:srgbClr val="FFFFFF"/>
          </a:solidFill>
          <a:ln w="12700">
            <a:solidFill>
              <a:srgbClr val="EDF1F7"/>
            </a:solidFill>
            <a:prstDash val="solid"/>
          </a:ln>
        </p:spPr>
      </p:sp>
      <p:sp>
        <p:nvSpPr>
          <p:cNvPr id="20" name="Shape 18"/>
          <p:cNvSpPr/>
          <p:nvPr/>
        </p:nvSpPr>
        <p:spPr>
          <a:xfrm>
            <a:off x="713232" y="4709160"/>
            <a:ext cx="384048" cy="384048"/>
          </a:xfrm>
          <a:prstGeom prst="roundRect">
            <a:avLst>
              <a:gd name="adj" fmla="val 23810"/>
            </a:avLst>
          </a:prstGeom>
          <a:solidFill>
            <a:srgbClr val="1F3B63"/>
          </a:solidFill>
          <a:ln w="12700">
            <a:solidFill>
              <a:srgbClr val="1F3B63"/>
            </a:solidFill>
            <a:prstDash val="solid"/>
          </a:ln>
        </p:spPr>
      </p:sp>
      <p:sp>
        <p:nvSpPr>
          <p:cNvPr id="21" name="Text 19"/>
          <p:cNvSpPr/>
          <p:nvPr/>
        </p:nvSpPr>
        <p:spPr>
          <a:xfrm>
            <a:off x="713232" y="4709160"/>
            <a:ext cx="384048" cy="384048"/>
          </a:xfrm>
          <a:prstGeom prst="rect">
            <a:avLst/>
          </a:prstGeom>
          <a:noFill/>
          <a:ln/>
        </p:spPr>
        <p:txBody>
          <a:bodyPr wrap="square" lIns="0" tIns="0" rIns="0" bIns="0" rtlCol="0" anchor="ctr"/>
          <a:lstStyle/>
          <a:p>
            <a:pPr marL="0" indent="0" algn="ctr">
              <a:buNone/>
            </a:pPr>
            <a:r>
              <a:rPr lang="en-US" sz="1300" b="1" dirty="0">
                <a:solidFill>
                  <a:srgbClr val="E8A61E"/>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261872" y="4636008"/>
            <a:ext cx="3200400" cy="457200"/>
          </a:xfrm>
          <a:prstGeom prst="rect">
            <a:avLst/>
          </a:prstGeom>
          <a:noFill/>
          <a:ln/>
        </p:spPr>
        <p:txBody>
          <a:bodyPr wrap="square" lIns="0" tIns="0" rIns="0" bIns="0" rtlCol="0" anchor="ctr"/>
          <a:lstStyle/>
          <a:p>
            <a:pPr marL="0" indent="0">
              <a:buNone/>
            </a:pPr>
            <a:r>
              <a:rPr lang="en-US" sz="1350" b="1" dirty="0">
                <a:solidFill>
                  <a:srgbClr val="1F3B63"/>
                </a:solidFill>
                <a:latin typeface="Calibri" pitchFamily="34" charset="0"/>
                <a:ea typeface="Calibri" pitchFamily="34" charset="-122"/>
                <a:cs typeface="Calibri" pitchFamily="34" charset="-120"/>
              </a:rPr>
              <a:t>Multi-modal fusion (Model 3)</a:t>
            </a:r>
            <a:endParaRPr lang="en-US" sz="1350" dirty="0"/>
          </a:p>
        </p:txBody>
      </p:sp>
      <p:sp>
        <p:nvSpPr>
          <p:cNvPr id="23" name="Text 21"/>
          <p:cNvSpPr/>
          <p:nvPr/>
        </p:nvSpPr>
        <p:spPr>
          <a:xfrm>
            <a:off x="4526280" y="4617720"/>
            <a:ext cx="6949440" cy="749808"/>
          </a:xfrm>
          <a:prstGeom prst="rect">
            <a:avLst/>
          </a:prstGeom>
          <a:noFill/>
          <a:ln/>
        </p:spPr>
        <p:txBody>
          <a:bodyPr wrap="square" lIns="0" tIns="0" rIns="0" bIns="0" rtlCol="0" anchor="ctr"/>
          <a:lstStyle/>
          <a:p>
            <a:pPr marL="0" indent="0">
              <a:lnSpc>
                <a:spcPts val="1400"/>
              </a:lnSpc>
              <a:buNone/>
            </a:pPr>
            <a:r>
              <a:rPr lang="en-US" sz="1150" dirty="0">
                <a:solidFill>
                  <a:srgbClr val="202020"/>
                </a:solidFill>
                <a:latin typeface="Calibri" pitchFamily="34" charset="0"/>
                <a:ea typeface="Calibri" pitchFamily="34" charset="-122"/>
                <a:cs typeface="Calibri" pitchFamily="34" charset="-120"/>
              </a:rPr>
              <a:t>Combine the MUSE cube and the FEROS spectra in one shared model without forcing them onto a common wavelength grid. Measured by ARI, qualitative checks and FEROS accuracy.</a:t>
            </a:r>
            <a:endParaRPr lang="en-US" sz="1150" dirty="0"/>
          </a:p>
        </p:txBody>
      </p:sp>
      <p:sp>
        <p:nvSpPr>
          <p:cNvPr id="24" name="Shape 22"/>
          <p:cNvSpPr/>
          <p:nvPr/>
        </p:nvSpPr>
        <p:spPr>
          <a:xfrm>
            <a:off x="548640" y="5541264"/>
            <a:ext cx="11091672" cy="713232"/>
          </a:xfrm>
          <a:prstGeom prst="roundRect">
            <a:avLst>
              <a:gd name="adj" fmla="val 7692"/>
            </a:avLst>
          </a:prstGeom>
          <a:solidFill>
            <a:srgbClr val="EDF1F7"/>
          </a:solidFill>
          <a:ln w="12700">
            <a:solidFill>
              <a:srgbClr val="EDF1F7"/>
            </a:solidFill>
            <a:prstDash val="solid"/>
          </a:ln>
        </p:spPr>
      </p:sp>
      <p:sp>
        <p:nvSpPr>
          <p:cNvPr id="25" name="Shape 23"/>
          <p:cNvSpPr/>
          <p:nvPr/>
        </p:nvSpPr>
        <p:spPr>
          <a:xfrm>
            <a:off x="713232" y="5724144"/>
            <a:ext cx="384048" cy="384048"/>
          </a:xfrm>
          <a:prstGeom prst="roundRect">
            <a:avLst>
              <a:gd name="adj" fmla="val 23810"/>
            </a:avLst>
          </a:prstGeom>
          <a:solidFill>
            <a:srgbClr val="1F3B63"/>
          </a:solidFill>
          <a:ln w="12700">
            <a:solidFill>
              <a:srgbClr val="1F3B63"/>
            </a:solidFill>
            <a:prstDash val="solid"/>
          </a:ln>
        </p:spPr>
      </p:sp>
      <p:sp>
        <p:nvSpPr>
          <p:cNvPr id="26" name="Text 24"/>
          <p:cNvSpPr/>
          <p:nvPr/>
        </p:nvSpPr>
        <p:spPr>
          <a:xfrm>
            <a:off x="713232" y="5724144"/>
            <a:ext cx="384048" cy="384048"/>
          </a:xfrm>
          <a:prstGeom prst="rect">
            <a:avLst/>
          </a:prstGeom>
          <a:noFill/>
          <a:ln/>
        </p:spPr>
        <p:txBody>
          <a:bodyPr wrap="square" lIns="0" tIns="0" rIns="0" bIns="0" rtlCol="0" anchor="ctr"/>
          <a:lstStyle/>
          <a:p>
            <a:pPr marL="0" indent="0" algn="ctr">
              <a:buNone/>
            </a:pPr>
            <a:r>
              <a:rPr lang="en-US" sz="1300" b="1" dirty="0">
                <a:solidFill>
                  <a:srgbClr val="E8A61E"/>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261872" y="5650992"/>
            <a:ext cx="3200400" cy="457200"/>
          </a:xfrm>
          <a:prstGeom prst="rect">
            <a:avLst/>
          </a:prstGeom>
          <a:noFill/>
          <a:ln/>
        </p:spPr>
        <p:txBody>
          <a:bodyPr wrap="square" lIns="0" tIns="0" rIns="0" bIns="0" rtlCol="0" anchor="ctr"/>
          <a:lstStyle/>
          <a:p>
            <a:pPr marL="0" indent="0">
              <a:buNone/>
            </a:pPr>
            <a:r>
              <a:rPr lang="en-US" sz="1350" b="1" dirty="0">
                <a:solidFill>
                  <a:srgbClr val="1F3B63"/>
                </a:solidFill>
                <a:latin typeface="Calibri" pitchFamily="34" charset="0"/>
                <a:ea typeface="Calibri" pitchFamily="34" charset="-122"/>
                <a:cs typeface="Calibri" pitchFamily="34" charset="-120"/>
              </a:rPr>
              <a:t>Honest evaluation</a:t>
            </a:r>
            <a:endParaRPr lang="en-US" sz="1350" dirty="0"/>
          </a:p>
        </p:txBody>
      </p:sp>
      <p:sp>
        <p:nvSpPr>
          <p:cNvPr id="28" name="Text 26"/>
          <p:cNvSpPr/>
          <p:nvPr/>
        </p:nvSpPr>
        <p:spPr>
          <a:xfrm>
            <a:off x="4526280" y="5632704"/>
            <a:ext cx="6949440" cy="530352"/>
          </a:xfrm>
          <a:prstGeom prst="rect">
            <a:avLst/>
          </a:prstGeom>
          <a:noFill/>
          <a:ln/>
        </p:spPr>
        <p:txBody>
          <a:bodyPr wrap="square" lIns="0" tIns="0" rIns="0" bIns="0" rtlCol="0" anchor="ctr"/>
          <a:lstStyle/>
          <a:p>
            <a:pPr marL="0" indent="0">
              <a:lnSpc>
                <a:spcPts val="1400"/>
              </a:lnSpc>
              <a:buNone/>
            </a:pPr>
            <a:r>
              <a:rPr lang="en-US" sz="1150" dirty="0">
                <a:solidFill>
                  <a:srgbClr val="202020"/>
                </a:solidFill>
                <a:latin typeface="Calibri" pitchFamily="34" charset="0"/>
                <a:ea typeface="Calibri" pitchFamily="34" charset="-122"/>
                <a:cs typeface="Calibri" pitchFamily="34" charset="-120"/>
              </a:rPr>
              <a:t>Where a model fails, diagnose the cause rather than reporting only the favourable numbers.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What Astronomers Build by Hand: The Line-Ratio Map</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 1 — THE PHYSICAL BASELINE</a:t>
            </a:r>
            <a:endParaRPr lang="en-US" sz="1100" dirty="0"/>
          </a:p>
        </p:txBody>
      </p:sp>
      <p:pic>
        <p:nvPicPr>
          <p:cNvPr id="4" name="Image 0" descr="figs/fig-000.png"/>
          <p:cNvPicPr>
            <a:picLocks noChangeAspect="1"/>
          </p:cNvPicPr>
          <p:nvPr/>
        </p:nvPicPr>
        <p:blipFill>
          <a:blip r:embed="rId3"/>
          <a:stretch>
            <a:fillRect/>
          </a:stretch>
        </p:blipFill>
        <p:spPr>
          <a:xfrm>
            <a:off x="685800" y="1371600"/>
            <a:ext cx="3886200" cy="3566160"/>
          </a:xfrm>
          <a:prstGeom prst="rect">
            <a:avLst/>
          </a:prstGeom>
        </p:spPr>
      </p:pic>
      <p:sp>
        <p:nvSpPr>
          <p:cNvPr id="5" name="Text 2"/>
          <p:cNvSpPr/>
          <p:nvPr/>
        </p:nvSpPr>
        <p:spPr>
          <a:xfrm>
            <a:off x="685800" y="4983480"/>
            <a:ext cx="3886200" cy="457200"/>
          </a:xfrm>
          <a:prstGeom prst="rect">
            <a:avLst/>
          </a:prstGeom>
          <a:noFill/>
          <a:ln/>
        </p:spPr>
        <p:txBody>
          <a:bodyPr wrap="square" lIns="0" tIns="0" rIns="0" bIns="0" rtlCol="0" anchor="t"/>
          <a:lstStyle/>
          <a:p>
            <a:pPr marL="0" indent="0">
              <a:lnSpc>
                <a:spcPts val="1300"/>
              </a:lnSpc>
              <a:buNone/>
            </a:pPr>
            <a:r>
              <a:rPr lang="en-US" sz="1050" i="1" dirty="0">
                <a:solidFill>
                  <a:srgbClr val="5B6675"/>
                </a:solidFill>
                <a:latin typeface="Calibri" pitchFamily="34" charset="0"/>
                <a:ea typeface="Calibri" pitchFamily="34" charset="-122"/>
                <a:cs typeface="Calibri" pitchFamily="34" charset="-120"/>
              </a:rPr>
              <a:t>[N II] 6583 / Hα across the cube. The bright ridge from lower-left to upper-right is the shock-excited jet.</a:t>
            </a:r>
            <a:endParaRPr lang="en-US" sz="1050" dirty="0"/>
          </a:p>
        </p:txBody>
      </p:sp>
      <p:sp>
        <p:nvSpPr>
          <p:cNvPr id="6" name="Text 3"/>
          <p:cNvSpPr/>
          <p:nvPr/>
        </p:nvSpPr>
        <p:spPr>
          <a:xfrm>
            <a:off x="4937760" y="1417320"/>
            <a:ext cx="6720840" cy="3840480"/>
          </a:xfrm>
          <a:prstGeom prst="rect">
            <a:avLst/>
          </a:prstGeom>
          <a:noFill/>
          <a:ln/>
        </p:spPr>
        <p:txBody>
          <a:bodyPr wrap="square" lIns="0" tIns="0" rIns="0" bIns="0" rtlCol="0" anchor="t"/>
          <a:lstStyle/>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Method: take the flux in a narrow window around each line's rest wavelength, subtract a local continuum estimated from windows either side, mask every spaxel below signal-to-noise 3, then divide pairs of maps.</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Sub-pixel refinement: each line's true centre drifts slightly from where physics predicts, so the peak is snapped with a parabolic fit before any flux is integrated.</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Coverage: 84.5% of spaxels at Hα S/N ≥ 3, giving 96,093 valid spaxels.</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Median [N II]/Hα = 0.22, median [S II]/Hα = 0.08.</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[S II] 6716/6731 = 1.20, consistent with a low-density regime.</a:t>
            </a:r>
            <a:endParaRPr lang="en-US" sz="1350" dirty="0"/>
          </a:p>
        </p:txBody>
      </p:sp>
      <p:sp>
        <p:nvSpPr>
          <p:cNvPr id="7" name="Shape 4"/>
          <p:cNvSpPr/>
          <p:nvPr/>
        </p:nvSpPr>
        <p:spPr>
          <a:xfrm>
            <a:off x="548640" y="5623560"/>
            <a:ext cx="11091672" cy="749808"/>
          </a:xfrm>
          <a:prstGeom prst="roundRect">
            <a:avLst>
              <a:gd name="adj" fmla="val 7317"/>
            </a:avLst>
          </a:prstGeom>
          <a:solidFill>
            <a:srgbClr val="1F3B63"/>
          </a:solidFill>
          <a:ln w="12700">
            <a:solidFill>
              <a:srgbClr val="1F3B63"/>
            </a:solidFill>
            <a:prstDash val="solid"/>
          </a:ln>
        </p:spPr>
      </p:sp>
      <p:sp>
        <p:nvSpPr>
          <p:cNvPr id="8" name="Text 5"/>
          <p:cNvSpPr/>
          <p:nvPr/>
        </p:nvSpPr>
        <p:spPr>
          <a:xfrm>
            <a:off x="777240" y="566928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This hand-built ridge is the answer key. Not because it is perfect, but because it is the one trusted, physically understood result the learned models can be checked against.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Dataset 1: The VLT/MUSE Integral-Field Cube</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THE MAIN DATASET — STRUCTURE DISCOVERY</a:t>
            </a:r>
            <a:endParaRPr lang="en-US" sz="1100" dirty="0"/>
          </a:p>
        </p:txBody>
      </p:sp>
      <p:sp>
        <p:nvSpPr>
          <p:cNvPr id="4" name="Text 2"/>
          <p:cNvSpPr/>
          <p:nvPr/>
        </p:nvSpPr>
        <p:spPr>
          <a:xfrm>
            <a:off x="548640" y="1417320"/>
            <a:ext cx="11091672" cy="731520"/>
          </a:xfrm>
          <a:prstGeom prst="rect">
            <a:avLst/>
          </a:prstGeom>
          <a:noFill/>
          <a:ln/>
        </p:spPr>
        <p:txBody>
          <a:bodyPr wrap="square" lIns="0" tIns="0" rIns="0" bIns="0" rtlCol="0" anchor="ctr"/>
          <a:lstStyle/>
          <a:p>
            <a:pPr marL="0" indent="0">
              <a:lnSpc>
                <a:spcPts val="1900"/>
              </a:lnSpc>
              <a:buNone/>
            </a:pPr>
            <a:r>
              <a:rPr lang="en-US" sz="1400" dirty="0">
                <a:solidFill>
                  <a:srgbClr val="202020"/>
                </a:solidFill>
                <a:latin typeface="Calibri" pitchFamily="34" charset="0"/>
                <a:ea typeface="Calibri" pitchFamily="34" charset="-122"/>
                <a:cs typeface="Calibri" pitchFamily="34" charset="-120"/>
              </a:rPr>
              <a:t>MUSE is an integral-field unit on ESO's Very Large Telescope. Instead of one spectrum through a slit, it records a full optical spectrum at every spatial pixel across the field, so the data is a 3D cube: two sky axes plus one wavelength axis.</a:t>
            </a:r>
            <a:endParaRPr lang="en-US" sz="1400" dirty="0"/>
          </a:p>
        </p:txBody>
      </p:sp>
      <p:sp>
        <p:nvSpPr>
          <p:cNvPr id="5" name="Shape 3"/>
          <p:cNvSpPr/>
          <p:nvPr/>
        </p:nvSpPr>
        <p:spPr>
          <a:xfrm>
            <a:off x="548640" y="2331720"/>
            <a:ext cx="3566160" cy="1234440"/>
          </a:xfrm>
          <a:prstGeom prst="roundRect">
            <a:avLst>
              <a:gd name="adj" fmla="val 5926"/>
            </a:avLst>
          </a:prstGeom>
          <a:solidFill>
            <a:srgbClr val="EDF1F7"/>
          </a:solidFill>
          <a:ln w="12700">
            <a:solidFill>
              <a:srgbClr val="EDF1F7"/>
            </a:solidFill>
            <a:prstDash val="solid"/>
          </a:ln>
        </p:spPr>
      </p:sp>
      <p:sp>
        <p:nvSpPr>
          <p:cNvPr id="6" name="Text 4"/>
          <p:cNvSpPr/>
          <p:nvPr/>
        </p:nvSpPr>
        <p:spPr>
          <a:xfrm>
            <a:off x="731520" y="245059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Provenance</a:t>
            </a:r>
            <a:endParaRPr lang="en-US" sz="1400" dirty="0"/>
          </a:p>
        </p:txBody>
      </p:sp>
      <p:sp>
        <p:nvSpPr>
          <p:cNvPr id="7" name="Text 5"/>
          <p:cNvSpPr/>
          <p:nvPr/>
        </p:nvSpPr>
        <p:spPr>
          <a:xfrm>
            <a:off x="731520" y="2752344"/>
            <a:ext cx="3200400" cy="6858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ESO programme 60.A-9322(A), the 2014 MUSE science-verification run. 2.9 GB on disk.</a:t>
            </a:r>
            <a:endParaRPr lang="en-US" sz="1250" dirty="0"/>
          </a:p>
        </p:txBody>
      </p:sp>
      <p:sp>
        <p:nvSpPr>
          <p:cNvPr id="8" name="Shape 6"/>
          <p:cNvSpPr/>
          <p:nvPr/>
        </p:nvSpPr>
        <p:spPr>
          <a:xfrm>
            <a:off x="4315968" y="2331720"/>
            <a:ext cx="3566160" cy="1234440"/>
          </a:xfrm>
          <a:prstGeom prst="roundRect">
            <a:avLst>
              <a:gd name="adj" fmla="val 5926"/>
            </a:avLst>
          </a:prstGeom>
          <a:solidFill>
            <a:srgbClr val="EDF1F7"/>
          </a:solidFill>
          <a:ln w="12700">
            <a:solidFill>
              <a:srgbClr val="EDF1F7"/>
            </a:solidFill>
            <a:prstDash val="solid"/>
          </a:ln>
        </p:spPr>
      </p:sp>
      <p:sp>
        <p:nvSpPr>
          <p:cNvPr id="9" name="Text 7"/>
          <p:cNvSpPr/>
          <p:nvPr/>
        </p:nvSpPr>
        <p:spPr>
          <a:xfrm>
            <a:off x="4498848" y="245059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Spatial</a:t>
            </a:r>
            <a:endParaRPr lang="en-US" sz="1400" dirty="0"/>
          </a:p>
        </p:txBody>
      </p:sp>
      <p:sp>
        <p:nvSpPr>
          <p:cNvPr id="10" name="Text 8"/>
          <p:cNvSpPr/>
          <p:nvPr/>
        </p:nvSpPr>
        <p:spPr>
          <a:xfrm>
            <a:off x="4498848" y="2752344"/>
            <a:ext cx="3200400" cy="6858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The full HH399 jet plus surrounding nebula. 96,093 valid spaxels after masking.</a:t>
            </a:r>
            <a:endParaRPr lang="en-US" sz="1250" dirty="0"/>
          </a:p>
        </p:txBody>
      </p:sp>
      <p:sp>
        <p:nvSpPr>
          <p:cNvPr id="11" name="Shape 9"/>
          <p:cNvSpPr/>
          <p:nvPr/>
        </p:nvSpPr>
        <p:spPr>
          <a:xfrm>
            <a:off x="8074152" y="2331720"/>
            <a:ext cx="3566160" cy="1234440"/>
          </a:xfrm>
          <a:prstGeom prst="roundRect">
            <a:avLst>
              <a:gd name="adj" fmla="val 5926"/>
            </a:avLst>
          </a:prstGeom>
          <a:solidFill>
            <a:srgbClr val="EDF1F7"/>
          </a:solidFill>
          <a:ln w="12700">
            <a:solidFill>
              <a:srgbClr val="EDF1F7"/>
            </a:solidFill>
            <a:prstDash val="solid"/>
          </a:ln>
        </p:spPr>
      </p:sp>
      <p:sp>
        <p:nvSpPr>
          <p:cNvPr id="12" name="Text 10"/>
          <p:cNvSpPr/>
          <p:nvPr/>
        </p:nvSpPr>
        <p:spPr>
          <a:xfrm>
            <a:off x="8257032" y="245059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Spectral</a:t>
            </a:r>
            <a:endParaRPr lang="en-US" sz="1400" dirty="0"/>
          </a:p>
        </p:txBody>
      </p:sp>
      <p:sp>
        <p:nvSpPr>
          <p:cNvPr id="13" name="Text 11"/>
          <p:cNvSpPr/>
          <p:nvPr/>
        </p:nvSpPr>
        <p:spPr>
          <a:xfrm>
            <a:off x="8257032" y="2752344"/>
            <a:ext cx="3200400" cy="6858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Roughly 3,681 wavelength points per spaxel. Medium resolution, air wavelengths.</a:t>
            </a:r>
            <a:endParaRPr lang="en-US" sz="1250" dirty="0"/>
          </a:p>
        </p:txBody>
      </p:sp>
      <p:sp>
        <p:nvSpPr>
          <p:cNvPr id="14" name="Shape 12"/>
          <p:cNvSpPr/>
          <p:nvPr/>
        </p:nvSpPr>
        <p:spPr>
          <a:xfrm>
            <a:off x="548640" y="3703320"/>
            <a:ext cx="3566160" cy="1234440"/>
          </a:xfrm>
          <a:prstGeom prst="roundRect">
            <a:avLst>
              <a:gd name="adj" fmla="val 5926"/>
            </a:avLst>
          </a:prstGeom>
          <a:solidFill>
            <a:srgbClr val="EDF1F7"/>
          </a:solidFill>
          <a:ln w="12700">
            <a:solidFill>
              <a:srgbClr val="EDF1F7"/>
            </a:solidFill>
            <a:prstDash val="solid"/>
          </a:ln>
        </p:spPr>
      </p:sp>
      <p:sp>
        <p:nvSpPr>
          <p:cNvPr id="15" name="Text 13"/>
          <p:cNvSpPr/>
          <p:nvPr/>
        </p:nvSpPr>
        <p:spPr>
          <a:xfrm>
            <a:off x="731520" y="382219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Handled with</a:t>
            </a:r>
            <a:endParaRPr lang="en-US" sz="1400" dirty="0"/>
          </a:p>
        </p:txBody>
      </p:sp>
      <p:sp>
        <p:nvSpPr>
          <p:cNvPr id="16" name="Text 14"/>
          <p:cNvSpPr/>
          <p:nvPr/>
        </p:nvSpPr>
        <p:spPr>
          <a:xfrm>
            <a:off x="731520" y="4123944"/>
            <a:ext cx="3200400" cy="6858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mpdaf, the package the MUSE instrument team publishes. It understands the DATA/STAT pair, the WCS and the air convention natively.</a:t>
            </a:r>
            <a:endParaRPr lang="en-US" sz="1250" dirty="0"/>
          </a:p>
        </p:txBody>
      </p:sp>
      <p:sp>
        <p:nvSpPr>
          <p:cNvPr id="17" name="Shape 15"/>
          <p:cNvSpPr/>
          <p:nvPr/>
        </p:nvSpPr>
        <p:spPr>
          <a:xfrm>
            <a:off x="4315968" y="3703320"/>
            <a:ext cx="3566160" cy="1234440"/>
          </a:xfrm>
          <a:prstGeom prst="roundRect">
            <a:avLst>
              <a:gd name="adj" fmla="val 5926"/>
            </a:avLst>
          </a:prstGeom>
          <a:solidFill>
            <a:srgbClr val="EDF1F7"/>
          </a:solidFill>
          <a:ln w="12700">
            <a:solidFill>
              <a:srgbClr val="EDF1F7"/>
            </a:solidFill>
            <a:prstDash val="solid"/>
          </a:ln>
        </p:spPr>
      </p:sp>
      <p:sp>
        <p:nvSpPr>
          <p:cNvPr id="18" name="Text 16"/>
          <p:cNvSpPr/>
          <p:nvPr/>
        </p:nvSpPr>
        <p:spPr>
          <a:xfrm>
            <a:off x="4498848" y="382219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Role in the project</a:t>
            </a:r>
            <a:endParaRPr lang="en-US" sz="1400" dirty="0"/>
          </a:p>
        </p:txBody>
      </p:sp>
      <p:sp>
        <p:nvSpPr>
          <p:cNvPr id="19" name="Text 17"/>
          <p:cNvSpPr/>
          <p:nvPr/>
        </p:nvSpPr>
        <p:spPr>
          <a:xfrm>
            <a:off x="4498848" y="4123944"/>
            <a:ext cx="3200400" cy="6858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Unsupervised structure discovery. Every region map in this project comes from this cube.</a:t>
            </a:r>
            <a:endParaRPr lang="en-US" sz="1250" dirty="0"/>
          </a:p>
        </p:txBody>
      </p:sp>
      <p:sp>
        <p:nvSpPr>
          <p:cNvPr id="20" name="Shape 18"/>
          <p:cNvSpPr/>
          <p:nvPr/>
        </p:nvSpPr>
        <p:spPr>
          <a:xfrm>
            <a:off x="8074152" y="3703320"/>
            <a:ext cx="3566160" cy="1234440"/>
          </a:xfrm>
          <a:prstGeom prst="roundRect">
            <a:avLst>
              <a:gd name="adj" fmla="val 5926"/>
            </a:avLst>
          </a:prstGeom>
          <a:solidFill>
            <a:srgbClr val="EDF1F7"/>
          </a:solidFill>
          <a:ln w="12700">
            <a:solidFill>
              <a:srgbClr val="EDF1F7"/>
            </a:solidFill>
            <a:prstDash val="solid"/>
          </a:ln>
        </p:spPr>
      </p:sp>
      <p:sp>
        <p:nvSpPr>
          <p:cNvPr id="21" name="Text 19"/>
          <p:cNvSpPr/>
          <p:nvPr/>
        </p:nvSpPr>
        <p:spPr>
          <a:xfrm>
            <a:off x="8257032" y="382219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Limitation</a:t>
            </a:r>
            <a:endParaRPr lang="en-US" sz="1400" dirty="0"/>
          </a:p>
        </p:txBody>
      </p:sp>
      <p:sp>
        <p:nvSpPr>
          <p:cNvPr id="22" name="Text 20"/>
          <p:cNvSpPr/>
          <p:nvPr/>
        </p:nvSpPr>
        <p:spPr>
          <a:xfrm>
            <a:off x="8257032" y="4123944"/>
            <a:ext cx="3200400" cy="6858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Medium spectral resolution. Fine line profiles of individual stars are not recoverable from it.</a:t>
            </a:r>
            <a:endParaRPr lang="en-US" sz="1250" dirty="0"/>
          </a:p>
        </p:txBody>
      </p:sp>
      <p:sp>
        <p:nvSpPr>
          <p:cNvPr id="23" name="Shape 21"/>
          <p:cNvSpPr/>
          <p:nvPr/>
        </p:nvSpPr>
        <p:spPr>
          <a:xfrm>
            <a:off x="548640" y="5212080"/>
            <a:ext cx="11091672" cy="749808"/>
          </a:xfrm>
          <a:prstGeom prst="roundRect">
            <a:avLst>
              <a:gd name="adj" fmla="val 7317"/>
            </a:avLst>
          </a:prstGeom>
          <a:solidFill>
            <a:srgbClr val="1F3B63"/>
          </a:solidFill>
          <a:ln w="12700">
            <a:solidFill>
              <a:srgbClr val="1F3B63"/>
            </a:solidFill>
            <a:prstDash val="solid"/>
          </a:ln>
        </p:spPr>
      </p:sp>
      <p:sp>
        <p:nvSpPr>
          <p:cNvPr id="24" name="Text 22"/>
          <p:cNvSpPr/>
          <p:nvPr/>
        </p:nvSpPr>
        <p:spPr>
          <a:xfrm>
            <a:off x="777240" y="525780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One object, one field, 96,093 spectra, zero labels. That combination is what makes a self-supervised approach the natural fit.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Dataset 2: Nine Archival FEROS Spectra</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THE SECOND DATASET — REAL CLASSIFICATION TARGETS</a:t>
            </a:r>
            <a:endParaRPr lang="en-US" sz="1100" dirty="0"/>
          </a:p>
        </p:txBody>
      </p:sp>
      <p:sp>
        <p:nvSpPr>
          <p:cNvPr id="4" name="Text 2"/>
          <p:cNvSpPr/>
          <p:nvPr/>
        </p:nvSpPr>
        <p:spPr>
          <a:xfrm>
            <a:off x="548640" y="1463040"/>
            <a:ext cx="6446520" cy="4023360"/>
          </a:xfrm>
          <a:prstGeom prst="rect">
            <a:avLst/>
          </a:prstGeom>
          <a:noFill/>
          <a:ln/>
        </p:spPr>
        <p:txBody>
          <a:bodyPr wrap="square" lIns="0" tIns="0" rIns="0" bIns="0" rtlCol="0" anchor="t"/>
          <a:lstStyle/>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FEROS is a fibre-fed echelle spectrograph. Each exposure is a single pointing with no spatial structure at all, but with very fine spectral sampling.</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Nine archival exposures are used, covering the system that irradiates HH399: the stars HD164492B, HD164492C and HD164514, plus nebular gas in the NGC 6514 H II region.</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Roughly 189,626 wavelength points per exposure, about 50 times the cube's sampling.</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Role: the real-world classification target for Models 2 and 3, replacing a generic SDSS-only evaluation with one specific to this physical system.</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They are also the project's differentiator. A labmate's thesis already works from the same cube, so tying this work to HH399's own irradiating stars keeps it distinct.</a:t>
            </a:r>
            <a:endParaRPr lang="en-US" sz="1350" dirty="0"/>
          </a:p>
        </p:txBody>
      </p:sp>
      <p:sp>
        <p:nvSpPr>
          <p:cNvPr id="5" name="Shape 3"/>
          <p:cNvSpPr/>
          <p:nvPr/>
        </p:nvSpPr>
        <p:spPr>
          <a:xfrm>
            <a:off x="7315200" y="1463040"/>
            <a:ext cx="4325112" cy="3520440"/>
          </a:xfrm>
          <a:prstGeom prst="roundRect">
            <a:avLst>
              <a:gd name="adj" fmla="val 1558"/>
            </a:avLst>
          </a:prstGeom>
          <a:solidFill>
            <a:srgbClr val="EDF1F7"/>
          </a:solidFill>
          <a:ln w="12700">
            <a:solidFill>
              <a:srgbClr val="EDF1F7"/>
            </a:solidFill>
            <a:prstDash val="solid"/>
          </a:ln>
        </p:spPr>
      </p:sp>
      <p:sp>
        <p:nvSpPr>
          <p:cNvPr id="6" name="Text 4"/>
          <p:cNvSpPr/>
          <p:nvPr/>
        </p:nvSpPr>
        <p:spPr>
          <a:xfrm>
            <a:off x="7543800" y="1572768"/>
            <a:ext cx="3840480" cy="32004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The mismatch, side by side</a:t>
            </a:r>
            <a:endParaRPr lang="en-US" sz="1400" dirty="0"/>
          </a:p>
        </p:txBody>
      </p:sp>
      <p:sp>
        <p:nvSpPr>
          <p:cNvPr id="7" name="Text 5"/>
          <p:cNvSpPr/>
          <p:nvPr/>
        </p:nvSpPr>
        <p:spPr>
          <a:xfrm>
            <a:off x="7543800" y="2011680"/>
            <a:ext cx="1554480" cy="320040"/>
          </a:xfrm>
          <a:prstGeom prst="rect">
            <a:avLst/>
          </a:prstGeom>
          <a:noFill/>
          <a:ln/>
        </p:spPr>
        <p:txBody>
          <a:bodyPr wrap="square" lIns="0" tIns="0" rIns="0" bIns="0" rtlCol="0" anchor="ctr"/>
          <a:lstStyle/>
          <a:p>
            <a:pPr marL="0" indent="0">
              <a:buNone/>
            </a:pPr>
            <a:endParaRPr lang="en-US" sz="1150" dirty="0"/>
          </a:p>
        </p:txBody>
      </p:sp>
      <p:sp>
        <p:nvSpPr>
          <p:cNvPr id="8" name="Text 6"/>
          <p:cNvSpPr/>
          <p:nvPr/>
        </p:nvSpPr>
        <p:spPr>
          <a:xfrm>
            <a:off x="9098280" y="2011680"/>
            <a:ext cx="1234440" cy="320040"/>
          </a:xfrm>
          <a:prstGeom prst="rect">
            <a:avLst/>
          </a:prstGeom>
          <a:noFill/>
          <a:ln/>
        </p:spPr>
        <p:txBody>
          <a:bodyPr wrap="square" lIns="0" tIns="0" rIns="0" bIns="0" rtlCol="0" anchor="ctr"/>
          <a:lstStyle/>
          <a:p>
            <a:pPr marL="0" indent="0">
              <a:buNone/>
            </a:pPr>
            <a:r>
              <a:rPr lang="en-US" sz="1150" b="1" dirty="0">
                <a:solidFill>
                  <a:srgbClr val="1F3B63"/>
                </a:solidFill>
                <a:latin typeface="Calibri" pitchFamily="34" charset="0"/>
                <a:ea typeface="Calibri" pitchFamily="34" charset="-122"/>
                <a:cs typeface="Calibri" pitchFamily="34" charset="-120"/>
              </a:rPr>
              <a:t>MUSE</a:t>
            </a:r>
            <a:endParaRPr lang="en-US" sz="1150" dirty="0"/>
          </a:p>
        </p:txBody>
      </p:sp>
      <p:sp>
        <p:nvSpPr>
          <p:cNvPr id="9" name="Text 7"/>
          <p:cNvSpPr/>
          <p:nvPr/>
        </p:nvSpPr>
        <p:spPr>
          <a:xfrm>
            <a:off x="10332720" y="2011680"/>
            <a:ext cx="1188720" cy="320040"/>
          </a:xfrm>
          <a:prstGeom prst="rect">
            <a:avLst/>
          </a:prstGeom>
          <a:noFill/>
          <a:ln/>
        </p:spPr>
        <p:txBody>
          <a:bodyPr wrap="square" lIns="0" tIns="0" rIns="0" bIns="0" rtlCol="0" anchor="ctr"/>
          <a:lstStyle/>
          <a:p>
            <a:pPr marL="0" indent="0">
              <a:buNone/>
            </a:pPr>
            <a:r>
              <a:rPr lang="en-US" sz="1150" b="1" dirty="0">
                <a:solidFill>
                  <a:srgbClr val="1F3B63"/>
                </a:solidFill>
                <a:latin typeface="Calibri" pitchFamily="34" charset="0"/>
                <a:ea typeface="Calibri" pitchFamily="34" charset="-122"/>
                <a:cs typeface="Calibri" pitchFamily="34" charset="-120"/>
              </a:rPr>
              <a:t>FEROS</a:t>
            </a:r>
            <a:endParaRPr lang="en-US" sz="1150" dirty="0"/>
          </a:p>
        </p:txBody>
      </p:sp>
      <p:sp>
        <p:nvSpPr>
          <p:cNvPr id="10" name="Text 8"/>
          <p:cNvSpPr/>
          <p:nvPr/>
        </p:nvSpPr>
        <p:spPr>
          <a:xfrm>
            <a:off x="7543800" y="2578608"/>
            <a:ext cx="155448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Spatial</a:t>
            </a:r>
            <a:endParaRPr lang="en-US" sz="1150" dirty="0"/>
          </a:p>
        </p:txBody>
      </p:sp>
      <p:sp>
        <p:nvSpPr>
          <p:cNvPr id="11" name="Text 9"/>
          <p:cNvSpPr/>
          <p:nvPr/>
        </p:nvSpPr>
        <p:spPr>
          <a:xfrm>
            <a:off x="9098280" y="2578608"/>
            <a:ext cx="123444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96,093 spaxels</a:t>
            </a:r>
            <a:endParaRPr lang="en-US" sz="1150" dirty="0"/>
          </a:p>
        </p:txBody>
      </p:sp>
      <p:sp>
        <p:nvSpPr>
          <p:cNvPr id="12" name="Text 10"/>
          <p:cNvSpPr/>
          <p:nvPr/>
        </p:nvSpPr>
        <p:spPr>
          <a:xfrm>
            <a:off x="10332720" y="2578608"/>
            <a:ext cx="118872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none</a:t>
            </a:r>
            <a:endParaRPr lang="en-US" sz="1150" dirty="0"/>
          </a:p>
        </p:txBody>
      </p:sp>
      <p:sp>
        <p:nvSpPr>
          <p:cNvPr id="13" name="Text 11"/>
          <p:cNvSpPr/>
          <p:nvPr/>
        </p:nvSpPr>
        <p:spPr>
          <a:xfrm>
            <a:off x="7543800" y="3145536"/>
            <a:ext cx="155448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Wavelength pts</a:t>
            </a:r>
            <a:endParaRPr lang="en-US" sz="1150" dirty="0"/>
          </a:p>
        </p:txBody>
      </p:sp>
      <p:sp>
        <p:nvSpPr>
          <p:cNvPr id="14" name="Text 12"/>
          <p:cNvSpPr/>
          <p:nvPr/>
        </p:nvSpPr>
        <p:spPr>
          <a:xfrm>
            <a:off x="9098280" y="3145536"/>
            <a:ext cx="123444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3,681</a:t>
            </a:r>
            <a:endParaRPr lang="en-US" sz="1150" dirty="0"/>
          </a:p>
        </p:txBody>
      </p:sp>
      <p:sp>
        <p:nvSpPr>
          <p:cNvPr id="15" name="Text 13"/>
          <p:cNvSpPr/>
          <p:nvPr/>
        </p:nvSpPr>
        <p:spPr>
          <a:xfrm>
            <a:off x="10332720" y="3145536"/>
            <a:ext cx="118872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~189,626</a:t>
            </a:r>
            <a:endParaRPr lang="en-US" sz="1150" dirty="0"/>
          </a:p>
        </p:txBody>
      </p:sp>
      <p:sp>
        <p:nvSpPr>
          <p:cNvPr id="16" name="Text 14"/>
          <p:cNvSpPr/>
          <p:nvPr/>
        </p:nvSpPr>
        <p:spPr>
          <a:xfrm>
            <a:off x="7543800" y="3712464"/>
            <a:ext cx="155448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Resolution</a:t>
            </a:r>
            <a:endParaRPr lang="en-US" sz="1150" dirty="0"/>
          </a:p>
        </p:txBody>
      </p:sp>
      <p:sp>
        <p:nvSpPr>
          <p:cNvPr id="17" name="Text 15"/>
          <p:cNvSpPr/>
          <p:nvPr/>
        </p:nvSpPr>
        <p:spPr>
          <a:xfrm>
            <a:off x="9098280" y="3712464"/>
            <a:ext cx="123444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medium</a:t>
            </a:r>
            <a:endParaRPr lang="en-US" sz="1150" dirty="0"/>
          </a:p>
        </p:txBody>
      </p:sp>
      <p:sp>
        <p:nvSpPr>
          <p:cNvPr id="18" name="Text 16"/>
          <p:cNvSpPr/>
          <p:nvPr/>
        </p:nvSpPr>
        <p:spPr>
          <a:xfrm>
            <a:off x="10332720" y="3712464"/>
            <a:ext cx="118872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~50x MUSE</a:t>
            </a:r>
            <a:endParaRPr lang="en-US" sz="1150" dirty="0"/>
          </a:p>
        </p:txBody>
      </p:sp>
      <p:sp>
        <p:nvSpPr>
          <p:cNvPr id="19" name="Text 17"/>
          <p:cNvSpPr/>
          <p:nvPr/>
        </p:nvSpPr>
        <p:spPr>
          <a:xfrm>
            <a:off x="7543800" y="4279392"/>
            <a:ext cx="155448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Target</a:t>
            </a:r>
            <a:endParaRPr lang="en-US" sz="1150" dirty="0"/>
          </a:p>
        </p:txBody>
      </p:sp>
      <p:sp>
        <p:nvSpPr>
          <p:cNvPr id="20" name="Text 18"/>
          <p:cNvSpPr/>
          <p:nvPr/>
        </p:nvSpPr>
        <p:spPr>
          <a:xfrm>
            <a:off x="9098280" y="4279392"/>
            <a:ext cx="123444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whole jet</a:t>
            </a:r>
            <a:endParaRPr lang="en-US" sz="1150" dirty="0"/>
          </a:p>
        </p:txBody>
      </p:sp>
      <p:sp>
        <p:nvSpPr>
          <p:cNvPr id="21" name="Text 19"/>
          <p:cNvSpPr/>
          <p:nvPr/>
        </p:nvSpPr>
        <p:spPr>
          <a:xfrm>
            <a:off x="10332720" y="4279392"/>
            <a:ext cx="1188720" cy="320040"/>
          </a:xfrm>
          <a:prstGeom prst="rect">
            <a:avLst/>
          </a:prstGeom>
          <a:noFill/>
          <a:ln/>
        </p:spPr>
        <p:txBody>
          <a:bodyPr wrap="square" lIns="0" tIns="0" rIns="0" bIns="0" rtlCol="0" anchor="ctr"/>
          <a:lstStyle/>
          <a:p>
            <a:pPr marL="0" indent="0">
              <a:buNone/>
            </a:pPr>
            <a:r>
              <a:rPr lang="en-US" sz="1150" dirty="0">
                <a:solidFill>
                  <a:srgbClr val="202020"/>
                </a:solidFill>
                <a:latin typeface="Calibri" pitchFamily="34" charset="0"/>
                <a:ea typeface="Calibri" pitchFamily="34" charset="-122"/>
                <a:cs typeface="Calibri" pitchFamily="34" charset="-120"/>
              </a:rPr>
              <a:t>9 exposures</a:t>
            </a:r>
            <a:endParaRPr lang="en-US" sz="1150" dirty="0"/>
          </a:p>
        </p:txBody>
      </p:sp>
      <p:sp>
        <p:nvSpPr>
          <p:cNvPr id="22" name="Shape 20"/>
          <p:cNvSpPr/>
          <p:nvPr/>
        </p:nvSpPr>
        <p:spPr>
          <a:xfrm>
            <a:off x="548640" y="5212080"/>
            <a:ext cx="11091672" cy="749808"/>
          </a:xfrm>
          <a:prstGeom prst="roundRect">
            <a:avLst>
              <a:gd name="adj" fmla="val 7317"/>
            </a:avLst>
          </a:prstGeom>
          <a:solidFill>
            <a:srgbClr val="1F3B63"/>
          </a:solidFill>
          <a:ln w="12700">
            <a:solidFill>
              <a:srgbClr val="1F3B63"/>
            </a:solidFill>
            <a:prstDash val="solid"/>
          </a:ln>
        </p:spPr>
      </p:sp>
      <p:sp>
        <p:nvSpPr>
          <p:cNvPr id="23" name="Text 21"/>
          <p:cNvSpPr/>
          <p:nvPr/>
        </p:nvSpPr>
        <p:spPr>
          <a:xfrm>
            <a:off x="777240" y="525780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No shared wavelength grid and no shared spatial dimension. Forcing both onto one grid would destroy information, which is exactly the problem Model 3 exists to solve.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Background: What a CLIP-Style Model Does</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THE IDEA BEHIND MODELS 1 AND 2 (RADFORD ET AL. 2021)</a:t>
            </a:r>
            <a:endParaRPr lang="en-US" sz="1100" dirty="0"/>
          </a:p>
        </p:txBody>
      </p:sp>
      <p:sp>
        <p:nvSpPr>
          <p:cNvPr id="4" name="Text 2"/>
          <p:cNvSpPr/>
          <p:nvPr/>
        </p:nvSpPr>
        <p:spPr>
          <a:xfrm>
            <a:off x="548640" y="1463040"/>
            <a:ext cx="5623560" cy="3931920"/>
          </a:xfrm>
          <a:prstGeom prst="rect">
            <a:avLst/>
          </a:prstGeom>
          <a:noFill/>
          <a:ln/>
        </p:spPr>
        <p:txBody>
          <a:bodyPr wrap="square" lIns="0" tIns="0" rIns="0" bIns="0" rtlCol="0" anchor="t"/>
          <a:lstStyle/>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Two encoders are trained side by side, one per data type. Each produces a vector in one shared embedding space.</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The training signal is the pairing itself: things that belong together should land close, everything else in the batch should land far apart. No class labels are needed.</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The loss is symmetric InfoNCE. In a batch of N pairs, each item has to pick its true partner out of all N candidates, and the score is averaged over both directions.</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After training, classification is just a nearest-neighbour lookup in that space, which is why new classes can be added by writing a new sentence instead of retraining a head.</a:t>
            </a:r>
            <a:endParaRPr lang="en-US" sz="1350" dirty="0"/>
          </a:p>
        </p:txBody>
      </p:sp>
      <p:sp>
        <p:nvSpPr>
          <p:cNvPr id="5" name="Shape 3"/>
          <p:cNvSpPr/>
          <p:nvPr/>
        </p:nvSpPr>
        <p:spPr>
          <a:xfrm>
            <a:off x="6492240" y="1600200"/>
            <a:ext cx="5148072" cy="3429000"/>
          </a:xfrm>
          <a:prstGeom prst="roundRect">
            <a:avLst>
              <a:gd name="adj" fmla="val 1600"/>
            </a:avLst>
          </a:prstGeom>
          <a:solidFill>
            <a:srgbClr val="EDF1F7"/>
          </a:solidFill>
          <a:ln w="12700">
            <a:solidFill>
              <a:srgbClr val="EDF1F7"/>
            </a:solidFill>
            <a:prstDash val="solid"/>
          </a:ln>
        </p:spPr>
      </p:sp>
      <p:sp>
        <p:nvSpPr>
          <p:cNvPr id="6" name="Shape 4"/>
          <p:cNvSpPr/>
          <p:nvPr/>
        </p:nvSpPr>
        <p:spPr>
          <a:xfrm>
            <a:off x="6766560" y="1920240"/>
            <a:ext cx="1600200" cy="777240"/>
          </a:xfrm>
          <a:prstGeom prst="roundRect">
            <a:avLst>
              <a:gd name="adj" fmla="val 11765"/>
            </a:avLst>
          </a:prstGeom>
          <a:solidFill>
            <a:srgbClr val="FFFFFF"/>
          </a:solidFill>
          <a:ln w="12700">
            <a:solidFill>
              <a:srgbClr val="3A5F8F"/>
            </a:solidFill>
            <a:prstDash val="solid"/>
          </a:ln>
        </p:spPr>
      </p:sp>
      <p:sp>
        <p:nvSpPr>
          <p:cNvPr id="7" name="Text 5"/>
          <p:cNvSpPr/>
          <p:nvPr/>
        </p:nvSpPr>
        <p:spPr>
          <a:xfrm>
            <a:off x="6839712" y="2011680"/>
            <a:ext cx="1453896" cy="373075"/>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Encoder A</a:t>
            </a:r>
            <a:endParaRPr lang="en-US" sz="1250" dirty="0"/>
          </a:p>
        </p:txBody>
      </p:sp>
      <p:sp>
        <p:nvSpPr>
          <p:cNvPr id="8" name="Text 6"/>
          <p:cNvSpPr/>
          <p:nvPr/>
        </p:nvSpPr>
        <p:spPr>
          <a:xfrm>
            <a:off x="6839712" y="2308860"/>
            <a:ext cx="1453896" cy="349758"/>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e.g. a spectrum</a:t>
            </a:r>
            <a:endParaRPr lang="en-US" sz="1000" dirty="0"/>
          </a:p>
        </p:txBody>
      </p:sp>
      <p:sp>
        <p:nvSpPr>
          <p:cNvPr id="9" name="Shape 7"/>
          <p:cNvSpPr/>
          <p:nvPr/>
        </p:nvSpPr>
        <p:spPr>
          <a:xfrm>
            <a:off x="6766560" y="3749040"/>
            <a:ext cx="1600200" cy="777240"/>
          </a:xfrm>
          <a:prstGeom prst="roundRect">
            <a:avLst>
              <a:gd name="adj" fmla="val 11765"/>
            </a:avLst>
          </a:prstGeom>
          <a:solidFill>
            <a:srgbClr val="FFFFFF"/>
          </a:solidFill>
          <a:ln w="12700">
            <a:solidFill>
              <a:srgbClr val="3A5F8F"/>
            </a:solidFill>
            <a:prstDash val="solid"/>
          </a:ln>
        </p:spPr>
      </p:sp>
      <p:sp>
        <p:nvSpPr>
          <p:cNvPr id="10" name="Text 8"/>
          <p:cNvSpPr/>
          <p:nvPr/>
        </p:nvSpPr>
        <p:spPr>
          <a:xfrm>
            <a:off x="6839712" y="3840480"/>
            <a:ext cx="1453896" cy="373075"/>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Encoder B</a:t>
            </a:r>
            <a:endParaRPr lang="en-US" sz="1250" dirty="0"/>
          </a:p>
        </p:txBody>
      </p:sp>
      <p:sp>
        <p:nvSpPr>
          <p:cNvPr id="11" name="Text 9"/>
          <p:cNvSpPr/>
          <p:nvPr/>
        </p:nvSpPr>
        <p:spPr>
          <a:xfrm>
            <a:off x="6839712" y="4137660"/>
            <a:ext cx="1453896" cy="349758"/>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e.g. a patch or a sentence</a:t>
            </a:r>
            <a:endParaRPr lang="en-US" sz="1000" dirty="0"/>
          </a:p>
        </p:txBody>
      </p:sp>
      <p:sp>
        <p:nvSpPr>
          <p:cNvPr id="12" name="Shape 10"/>
          <p:cNvSpPr/>
          <p:nvPr/>
        </p:nvSpPr>
        <p:spPr>
          <a:xfrm>
            <a:off x="9372600" y="2286000"/>
            <a:ext cx="1920240" cy="1920240"/>
          </a:xfrm>
          <a:prstGeom prst="ellipse">
            <a:avLst/>
          </a:prstGeom>
          <a:solidFill>
            <a:srgbClr val="FFFFFF"/>
          </a:solidFill>
          <a:ln w="12700">
            <a:solidFill>
              <a:srgbClr val="3A5F8F"/>
            </a:solidFill>
            <a:prstDash val="solid"/>
          </a:ln>
        </p:spPr>
      </p:sp>
      <p:sp>
        <p:nvSpPr>
          <p:cNvPr id="13" name="Text 11"/>
          <p:cNvSpPr/>
          <p:nvPr/>
        </p:nvSpPr>
        <p:spPr>
          <a:xfrm>
            <a:off x="9372600" y="2286000"/>
            <a:ext cx="1920240" cy="1920240"/>
          </a:xfrm>
          <a:prstGeom prst="rect">
            <a:avLst/>
          </a:prstGeom>
          <a:noFill/>
          <a:ln/>
        </p:spPr>
        <p:txBody>
          <a:bodyPr wrap="square" lIns="0" tIns="0" rIns="0" bIns="0" rtlCol="0" anchor="ctr"/>
          <a:lstStyle/>
          <a:p>
            <a:pPr marL="0" indent="0" algn="ctr">
              <a:buNone/>
            </a:pPr>
            <a:r>
              <a:rPr lang="en-US" sz="1150" b="1" dirty="0">
                <a:solidFill>
                  <a:srgbClr val="1F3B63"/>
                </a:solidFill>
                <a:latin typeface="Calibri" pitchFamily="34" charset="0"/>
                <a:ea typeface="Calibri" pitchFamily="34" charset="-122"/>
                <a:cs typeface="Calibri" pitchFamily="34" charset="-120"/>
              </a:rPr>
              <a:t>shared</a:t>
            </a:r>
            <a:endParaRPr lang="en-US" sz="1150" dirty="0"/>
          </a:p>
          <a:p>
            <a:pPr marL="0" indent="0" algn="ctr">
              <a:buNone/>
            </a:pPr>
            <a:r>
              <a:rPr lang="en-US" sz="1150" b="1" dirty="0">
                <a:solidFill>
                  <a:srgbClr val="1F3B63"/>
                </a:solidFill>
                <a:latin typeface="Calibri" pitchFamily="34" charset="0"/>
                <a:ea typeface="Calibri" pitchFamily="34" charset="-122"/>
                <a:cs typeface="Calibri" pitchFamily="34" charset="-120"/>
              </a:rPr>
              <a:t>embedding</a:t>
            </a:r>
            <a:endParaRPr lang="en-US" sz="1150" dirty="0"/>
          </a:p>
          <a:p>
            <a:pPr marL="0" indent="0" algn="ctr">
              <a:buNone/>
            </a:pPr>
            <a:r>
              <a:rPr lang="en-US" sz="1150" b="1" dirty="0">
                <a:solidFill>
                  <a:srgbClr val="1F3B63"/>
                </a:solidFill>
                <a:latin typeface="Calibri" pitchFamily="34" charset="0"/>
                <a:ea typeface="Calibri" pitchFamily="34" charset="-122"/>
                <a:cs typeface="Calibri" pitchFamily="34" charset="-120"/>
              </a:rPr>
              <a:t>space</a:t>
            </a:r>
            <a:endParaRPr lang="en-US" sz="1150" dirty="0"/>
          </a:p>
        </p:txBody>
      </p:sp>
      <p:sp>
        <p:nvSpPr>
          <p:cNvPr id="14" name="Shape 12"/>
          <p:cNvSpPr/>
          <p:nvPr/>
        </p:nvSpPr>
        <p:spPr>
          <a:xfrm>
            <a:off x="8412480" y="2331720"/>
            <a:ext cx="914400" cy="594360"/>
          </a:xfrm>
          <a:prstGeom prst="line">
            <a:avLst/>
          </a:prstGeom>
          <a:noFill/>
          <a:ln w="22225">
            <a:solidFill>
              <a:srgbClr val="3A5F8F"/>
            </a:solidFill>
            <a:prstDash val="solid"/>
            <a:tailEnd type="triangle"/>
          </a:ln>
        </p:spPr>
      </p:sp>
      <p:sp>
        <p:nvSpPr>
          <p:cNvPr id="15" name="Shape 13"/>
          <p:cNvSpPr/>
          <p:nvPr/>
        </p:nvSpPr>
        <p:spPr>
          <a:xfrm>
            <a:off x="8412480" y="4114800"/>
            <a:ext cx="914400" cy="0"/>
          </a:xfrm>
          <a:prstGeom prst="line">
            <a:avLst/>
          </a:prstGeom>
          <a:noFill/>
          <a:ln w="22225">
            <a:solidFill>
              <a:srgbClr val="3A5F8F"/>
            </a:solidFill>
            <a:prstDash val="solid"/>
            <a:tailEnd type="triangle"/>
          </a:ln>
        </p:spPr>
      </p:sp>
      <p:sp>
        <p:nvSpPr>
          <p:cNvPr id="16" name="Text 14"/>
          <p:cNvSpPr/>
          <p:nvPr/>
        </p:nvSpPr>
        <p:spPr>
          <a:xfrm>
            <a:off x="9235440" y="2057400"/>
            <a:ext cx="2194560" cy="219456"/>
          </a:xfrm>
          <a:prstGeom prst="rect">
            <a:avLst/>
          </a:prstGeom>
          <a:noFill/>
          <a:ln/>
        </p:spPr>
        <p:txBody>
          <a:bodyPr wrap="square" lIns="0" tIns="0" rIns="0" bIns="0" rtlCol="0" anchor="ctr"/>
          <a:lstStyle/>
          <a:p>
            <a:pPr marL="0" indent="0" algn="ctr">
              <a:buNone/>
            </a:pPr>
            <a:r>
              <a:rPr lang="en-US" sz="950" i="1" dirty="0">
                <a:solidFill>
                  <a:srgbClr val="1F3B63"/>
                </a:solidFill>
                <a:latin typeface="Calibri" pitchFamily="34" charset="0"/>
                <a:ea typeface="Calibri" pitchFamily="34" charset="-122"/>
                <a:cs typeface="Calibri" pitchFamily="34" charset="-120"/>
              </a:rPr>
              <a:t>true pair pulled together</a:t>
            </a:r>
            <a:endParaRPr lang="en-US" sz="950" dirty="0"/>
          </a:p>
        </p:txBody>
      </p:sp>
      <p:sp>
        <p:nvSpPr>
          <p:cNvPr id="17" name="Text 15"/>
          <p:cNvSpPr/>
          <p:nvPr/>
        </p:nvSpPr>
        <p:spPr>
          <a:xfrm>
            <a:off x="9235440" y="4297680"/>
            <a:ext cx="2194560" cy="219456"/>
          </a:xfrm>
          <a:prstGeom prst="rect">
            <a:avLst/>
          </a:prstGeom>
          <a:noFill/>
          <a:ln/>
        </p:spPr>
        <p:txBody>
          <a:bodyPr wrap="square" lIns="0" tIns="0" rIns="0" bIns="0" rtlCol="0" anchor="ctr"/>
          <a:lstStyle/>
          <a:p>
            <a:pPr marL="0" indent="0" algn="ctr">
              <a:buNone/>
            </a:pPr>
            <a:r>
              <a:rPr lang="en-US" sz="950" i="1" dirty="0">
                <a:solidFill>
                  <a:srgbClr val="9A6E10"/>
                </a:solidFill>
                <a:latin typeface="Calibri" pitchFamily="34" charset="0"/>
                <a:ea typeface="Calibri" pitchFamily="34" charset="-122"/>
                <a:cs typeface="Calibri" pitchFamily="34" charset="-120"/>
              </a:rPr>
              <a:t>everything else pushed apart</a:t>
            </a:r>
            <a:endParaRPr lang="en-US" sz="950" dirty="0"/>
          </a:p>
        </p:txBody>
      </p:sp>
      <p:sp>
        <p:nvSpPr>
          <p:cNvPr id="18" name="Shape 16"/>
          <p:cNvSpPr/>
          <p:nvPr/>
        </p:nvSpPr>
        <p:spPr>
          <a:xfrm>
            <a:off x="548640" y="5257800"/>
            <a:ext cx="11091672" cy="749808"/>
          </a:xfrm>
          <a:prstGeom prst="roundRect">
            <a:avLst>
              <a:gd name="adj" fmla="val 7317"/>
            </a:avLst>
          </a:prstGeom>
          <a:solidFill>
            <a:srgbClr val="1F3B63"/>
          </a:solidFill>
          <a:ln w="12700">
            <a:solidFill>
              <a:srgbClr val="1F3B63"/>
            </a:solidFill>
            <a:prstDash val="solid"/>
          </a:ln>
        </p:spPr>
      </p:sp>
      <p:sp>
        <p:nvSpPr>
          <p:cNvPr id="19" name="Text 17"/>
          <p:cNvSpPr/>
          <p:nvPr/>
        </p:nvSpPr>
        <p:spPr>
          <a:xfrm>
            <a:off x="777240" y="530352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Model 1 pairs a spectrum with the image patch around it, so it needs no labels at all. Model 2 pairs a spectrum with a short text description, which is what makes zero-shot classification possible.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DA5A93-7588-7344-9B35-A4AD1DC6707F}"/>
              </a:ext>
            </a:extLst>
          </p:cNvPr>
          <p:cNvPicPr>
            <a:picLocks noChangeAspect="1"/>
          </p:cNvPicPr>
          <p:nvPr/>
        </p:nvPicPr>
        <p:blipFill>
          <a:blip r:embed="rId2"/>
          <a:stretch>
            <a:fillRect/>
          </a:stretch>
        </p:blipFill>
        <p:spPr>
          <a:xfrm>
            <a:off x="989990" y="1230493"/>
            <a:ext cx="4480948" cy="3177815"/>
          </a:xfrm>
          <a:prstGeom prst="rect">
            <a:avLst/>
          </a:prstGeom>
        </p:spPr>
      </p:pic>
      <p:pic>
        <p:nvPicPr>
          <p:cNvPr id="5" name="Picture 4">
            <a:extLst>
              <a:ext uri="{FF2B5EF4-FFF2-40B4-BE49-F238E27FC236}">
                <a16:creationId xmlns:a16="http://schemas.microsoft.com/office/drawing/2014/main" id="{4B56285C-2253-8E4A-38FE-7300744635CB}"/>
              </a:ext>
            </a:extLst>
          </p:cNvPr>
          <p:cNvPicPr>
            <a:picLocks noChangeAspect="1"/>
          </p:cNvPicPr>
          <p:nvPr/>
        </p:nvPicPr>
        <p:blipFill>
          <a:blip r:embed="rId3"/>
          <a:stretch>
            <a:fillRect/>
          </a:stretch>
        </p:blipFill>
        <p:spPr>
          <a:xfrm>
            <a:off x="6705820" y="3138616"/>
            <a:ext cx="4496190" cy="3331323"/>
          </a:xfrm>
          <a:prstGeom prst="rect">
            <a:avLst/>
          </a:prstGeom>
        </p:spPr>
      </p:pic>
      <p:sp>
        <p:nvSpPr>
          <p:cNvPr id="6" name="TextBox 5">
            <a:extLst>
              <a:ext uri="{FF2B5EF4-FFF2-40B4-BE49-F238E27FC236}">
                <a16:creationId xmlns:a16="http://schemas.microsoft.com/office/drawing/2014/main" id="{1141DC23-87AC-BC85-16E9-C299AD65C597}"/>
              </a:ext>
            </a:extLst>
          </p:cNvPr>
          <p:cNvSpPr txBox="1"/>
          <p:nvPr/>
        </p:nvSpPr>
        <p:spPr>
          <a:xfrm>
            <a:off x="3764692" y="420130"/>
            <a:ext cx="5000367" cy="523220"/>
          </a:xfrm>
          <a:prstGeom prst="rect">
            <a:avLst/>
          </a:prstGeom>
          <a:noFill/>
        </p:spPr>
        <p:txBody>
          <a:bodyPr wrap="square" rtlCol="0">
            <a:spAutoFit/>
          </a:bodyPr>
          <a:lstStyle/>
          <a:p>
            <a:pPr algn="ctr"/>
            <a:r>
              <a:rPr lang="en-IN" sz="2800" b="1" dirty="0">
                <a:solidFill>
                  <a:srgbClr val="002060"/>
                </a:solidFill>
              </a:rPr>
              <a:t>CLIP MODEL</a:t>
            </a:r>
          </a:p>
        </p:txBody>
      </p:sp>
    </p:spTree>
    <p:extLst>
      <p:ext uri="{BB962C8B-B14F-4D97-AF65-F5344CB8AC3E}">
        <p14:creationId xmlns:p14="http://schemas.microsoft.com/office/powerpoint/2010/main" val="810391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1: Self-Supervised Spectral-Spatial Region Mapping</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 2 — NO LABELS ANYWHERE</a:t>
            </a:r>
            <a:endParaRPr lang="en-US" sz="1100" dirty="0"/>
          </a:p>
        </p:txBody>
      </p:sp>
      <p:sp>
        <p:nvSpPr>
          <p:cNvPr id="4" name="Text 2"/>
          <p:cNvSpPr/>
          <p:nvPr/>
        </p:nvSpPr>
        <p:spPr>
          <a:xfrm>
            <a:off x="548640" y="1371600"/>
            <a:ext cx="11091672" cy="685800"/>
          </a:xfrm>
          <a:prstGeom prst="rect">
            <a:avLst/>
          </a:prstGeom>
          <a:noFill/>
          <a:ln/>
        </p:spPr>
        <p:txBody>
          <a:bodyPr wrap="square" lIns="0" tIns="0" rIns="0" bIns="0" rtlCol="0" anchor="ctr"/>
          <a:lstStyle/>
          <a:p>
            <a:pPr marL="0" indent="0">
              <a:lnSpc>
                <a:spcPts val="1800"/>
              </a:lnSpc>
              <a:buNone/>
            </a:pPr>
            <a:r>
              <a:rPr lang="en-US" sz="1350" dirty="0">
                <a:solidFill>
                  <a:srgbClr val="202020"/>
                </a:solidFill>
                <a:latin typeface="Calibri" pitchFamily="34" charset="0"/>
                <a:ea typeface="Calibri" pitchFamily="34" charset="-122"/>
                <a:cs typeface="Calibri" pitchFamily="34" charset="-120"/>
              </a:rPr>
              <a:t>Goal: learn an embedding space in which a spaxel's spectrum and its own spatial neighbourhood land close together, and everything else in the batch lands further away. Clustering that space should then recover physically sensible regions the model was never told to look for.</a:t>
            </a:r>
            <a:endParaRPr lang="en-US" sz="1350" dirty="0"/>
          </a:p>
        </p:txBody>
      </p:sp>
      <p:sp>
        <p:nvSpPr>
          <p:cNvPr id="5" name="Shape 3"/>
          <p:cNvSpPr/>
          <p:nvPr/>
        </p:nvSpPr>
        <p:spPr>
          <a:xfrm>
            <a:off x="548640" y="2194560"/>
            <a:ext cx="3566160" cy="1417320"/>
          </a:xfrm>
          <a:prstGeom prst="roundRect">
            <a:avLst>
              <a:gd name="adj" fmla="val 5161"/>
            </a:avLst>
          </a:prstGeom>
          <a:solidFill>
            <a:srgbClr val="EDF1F7"/>
          </a:solidFill>
          <a:ln w="12700">
            <a:solidFill>
              <a:srgbClr val="EDF1F7"/>
            </a:solidFill>
            <a:prstDash val="solid"/>
          </a:ln>
        </p:spPr>
      </p:sp>
      <p:sp>
        <p:nvSpPr>
          <p:cNvPr id="6" name="Text 4"/>
          <p:cNvSpPr/>
          <p:nvPr/>
        </p:nvSpPr>
        <p:spPr>
          <a:xfrm>
            <a:off x="731520" y="231343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The pair</a:t>
            </a:r>
            <a:endParaRPr lang="en-US" sz="1400" dirty="0"/>
          </a:p>
        </p:txBody>
      </p:sp>
      <p:sp>
        <p:nvSpPr>
          <p:cNvPr id="7" name="Text 5"/>
          <p:cNvSpPr/>
          <p:nvPr/>
        </p:nvSpPr>
        <p:spPr>
          <a:xfrm>
            <a:off x="731520" y="2615184"/>
            <a:ext cx="320040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 spaxel's own spectrum (3,681 points) and the 7x7 image patch centred on it, carrying 6 channels: Hα, [N II], both [S II] lines, [O III], and a broadband white-light map.</a:t>
            </a:r>
            <a:endParaRPr lang="en-US" sz="1250" dirty="0"/>
          </a:p>
        </p:txBody>
      </p:sp>
      <p:sp>
        <p:nvSpPr>
          <p:cNvPr id="8" name="Shape 6"/>
          <p:cNvSpPr/>
          <p:nvPr/>
        </p:nvSpPr>
        <p:spPr>
          <a:xfrm>
            <a:off x="4315968" y="2194560"/>
            <a:ext cx="3566160" cy="1417320"/>
          </a:xfrm>
          <a:prstGeom prst="roundRect">
            <a:avLst>
              <a:gd name="adj" fmla="val 5161"/>
            </a:avLst>
          </a:prstGeom>
          <a:solidFill>
            <a:srgbClr val="EDF1F7"/>
          </a:solidFill>
          <a:ln w="12700">
            <a:solidFill>
              <a:srgbClr val="EDF1F7"/>
            </a:solidFill>
            <a:prstDash val="solid"/>
          </a:ln>
        </p:spPr>
      </p:sp>
      <p:sp>
        <p:nvSpPr>
          <p:cNvPr id="9" name="Text 7"/>
          <p:cNvSpPr/>
          <p:nvPr/>
        </p:nvSpPr>
        <p:spPr>
          <a:xfrm>
            <a:off x="4498848" y="231343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Spectrum encoder</a:t>
            </a:r>
            <a:endParaRPr lang="en-US" sz="1400" dirty="0"/>
          </a:p>
        </p:txBody>
      </p:sp>
      <p:sp>
        <p:nvSpPr>
          <p:cNvPr id="10" name="Text 8"/>
          <p:cNvSpPr/>
          <p:nvPr/>
        </p:nvSpPr>
        <p:spPr>
          <a:xfrm>
            <a:off x="4498848" y="2615184"/>
            <a:ext cx="320040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1D CNN. Three convolution blocks, kernel width 9 (wide enough to see a full emission line), then global average pooling to a 64-d vector.</a:t>
            </a:r>
            <a:endParaRPr lang="en-US" sz="1250" dirty="0"/>
          </a:p>
        </p:txBody>
      </p:sp>
      <p:sp>
        <p:nvSpPr>
          <p:cNvPr id="11" name="Shape 9"/>
          <p:cNvSpPr/>
          <p:nvPr/>
        </p:nvSpPr>
        <p:spPr>
          <a:xfrm>
            <a:off x="8074152" y="2194560"/>
            <a:ext cx="3566160" cy="1417320"/>
          </a:xfrm>
          <a:prstGeom prst="roundRect">
            <a:avLst>
              <a:gd name="adj" fmla="val 5161"/>
            </a:avLst>
          </a:prstGeom>
          <a:solidFill>
            <a:srgbClr val="EDF1F7"/>
          </a:solidFill>
          <a:ln w="12700">
            <a:solidFill>
              <a:srgbClr val="EDF1F7"/>
            </a:solidFill>
            <a:prstDash val="solid"/>
          </a:ln>
        </p:spPr>
      </p:sp>
      <p:sp>
        <p:nvSpPr>
          <p:cNvPr id="12" name="Text 10"/>
          <p:cNvSpPr/>
          <p:nvPr/>
        </p:nvSpPr>
        <p:spPr>
          <a:xfrm>
            <a:off x="8257032" y="231343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Patch encoder</a:t>
            </a:r>
            <a:endParaRPr lang="en-US" sz="1400" dirty="0"/>
          </a:p>
        </p:txBody>
      </p:sp>
      <p:sp>
        <p:nvSpPr>
          <p:cNvPr id="13" name="Text 11"/>
          <p:cNvSpPr/>
          <p:nvPr/>
        </p:nvSpPr>
        <p:spPr>
          <a:xfrm>
            <a:off x="8257032" y="2615184"/>
            <a:ext cx="320040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2D CNN. Two convolution blocks over the 6-channel patch, then global average pooling to a 64-d vector.</a:t>
            </a:r>
            <a:endParaRPr lang="en-US" sz="1250" dirty="0"/>
          </a:p>
        </p:txBody>
      </p:sp>
      <p:sp>
        <p:nvSpPr>
          <p:cNvPr id="14" name="Shape 12"/>
          <p:cNvSpPr/>
          <p:nvPr/>
        </p:nvSpPr>
        <p:spPr>
          <a:xfrm>
            <a:off x="548640" y="3749040"/>
            <a:ext cx="3566160" cy="1417320"/>
          </a:xfrm>
          <a:prstGeom prst="roundRect">
            <a:avLst>
              <a:gd name="adj" fmla="val 5161"/>
            </a:avLst>
          </a:prstGeom>
          <a:solidFill>
            <a:srgbClr val="EDF1F7"/>
          </a:solidFill>
          <a:ln w="12700">
            <a:solidFill>
              <a:srgbClr val="EDF1F7"/>
            </a:solidFill>
            <a:prstDash val="solid"/>
          </a:ln>
        </p:spPr>
      </p:sp>
      <p:sp>
        <p:nvSpPr>
          <p:cNvPr id="15" name="Text 13"/>
          <p:cNvSpPr/>
          <p:nvPr/>
        </p:nvSpPr>
        <p:spPr>
          <a:xfrm>
            <a:off x="731520" y="386791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Training</a:t>
            </a:r>
            <a:endParaRPr lang="en-US" sz="1400" dirty="0"/>
          </a:p>
        </p:txBody>
      </p:sp>
      <p:sp>
        <p:nvSpPr>
          <p:cNvPr id="16" name="Text 14"/>
          <p:cNvSpPr/>
          <p:nvPr/>
        </p:nvSpPr>
        <p:spPr>
          <a:xfrm>
            <a:off x="731520" y="4169664"/>
            <a:ext cx="320040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Both vectors are projected to 32-d and trained with symmetric InfoNCE for 15 epochs over all 96,093 spaxels. Batches are built so no two entries are accidental near-duplicates.</a:t>
            </a:r>
            <a:endParaRPr lang="en-US" sz="1250" dirty="0"/>
          </a:p>
        </p:txBody>
      </p:sp>
      <p:sp>
        <p:nvSpPr>
          <p:cNvPr id="17" name="Shape 15"/>
          <p:cNvSpPr/>
          <p:nvPr/>
        </p:nvSpPr>
        <p:spPr>
          <a:xfrm>
            <a:off x="4315968" y="3749040"/>
            <a:ext cx="3566160" cy="1417320"/>
          </a:xfrm>
          <a:prstGeom prst="roundRect">
            <a:avLst>
              <a:gd name="adj" fmla="val 5161"/>
            </a:avLst>
          </a:prstGeom>
          <a:solidFill>
            <a:srgbClr val="EDF1F7"/>
          </a:solidFill>
          <a:ln w="12700">
            <a:solidFill>
              <a:srgbClr val="EDF1F7"/>
            </a:solidFill>
            <a:prstDash val="solid"/>
          </a:ln>
        </p:spPr>
      </p:sp>
      <p:sp>
        <p:nvSpPr>
          <p:cNvPr id="18" name="Text 16"/>
          <p:cNvSpPr/>
          <p:nvPr/>
        </p:nvSpPr>
        <p:spPr>
          <a:xfrm>
            <a:off x="4498848" y="386791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Region map</a:t>
            </a:r>
            <a:endParaRPr lang="en-US" sz="1400" dirty="0"/>
          </a:p>
        </p:txBody>
      </p:sp>
      <p:sp>
        <p:nvSpPr>
          <p:cNvPr id="19" name="Text 17"/>
          <p:cNvSpPr/>
          <p:nvPr/>
        </p:nvSpPr>
        <p:spPr>
          <a:xfrm>
            <a:off x="4498848" y="4169664"/>
            <a:ext cx="320040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KMeans is run on the trained 64-d embeddings at K=3 and K=4. The cluster labels become the region map.</a:t>
            </a:r>
            <a:endParaRPr lang="en-US" sz="1250" dirty="0"/>
          </a:p>
        </p:txBody>
      </p:sp>
      <p:sp>
        <p:nvSpPr>
          <p:cNvPr id="20" name="Shape 18"/>
          <p:cNvSpPr/>
          <p:nvPr/>
        </p:nvSpPr>
        <p:spPr>
          <a:xfrm>
            <a:off x="8074152" y="3749040"/>
            <a:ext cx="3566160" cy="1417320"/>
          </a:xfrm>
          <a:prstGeom prst="roundRect">
            <a:avLst>
              <a:gd name="adj" fmla="val 5161"/>
            </a:avLst>
          </a:prstGeom>
          <a:solidFill>
            <a:srgbClr val="FBF2DF"/>
          </a:solidFill>
          <a:ln w="12700">
            <a:solidFill>
              <a:srgbClr val="FBF2DF"/>
            </a:solidFill>
            <a:prstDash val="solid"/>
          </a:ln>
        </p:spPr>
      </p:sp>
      <p:sp>
        <p:nvSpPr>
          <p:cNvPr id="21" name="Text 19"/>
          <p:cNvSpPr/>
          <p:nvPr/>
        </p:nvSpPr>
        <p:spPr>
          <a:xfrm>
            <a:off x="8257032" y="386791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Evaluation metrics</a:t>
            </a:r>
            <a:endParaRPr lang="en-US" sz="1400" dirty="0"/>
          </a:p>
        </p:txBody>
      </p:sp>
      <p:sp>
        <p:nvSpPr>
          <p:cNvPr id="22" name="Text 20"/>
          <p:cNvSpPr/>
          <p:nvPr/>
        </p:nvSpPr>
        <p:spPr>
          <a:xfrm>
            <a:off x="8257032" y="4169664"/>
            <a:ext cx="3200400" cy="86868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Adjusted Rand Index on synthetic planted data; batch top-1 retrieval accuracy in both directions; qualitative overlay against the [N II]/Hα baseline.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1: How It Works</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MECHANISM, END TO END</a:t>
            </a:r>
            <a:endParaRPr lang="en-US" sz="1100" dirty="0"/>
          </a:p>
        </p:txBody>
      </p:sp>
      <p:sp>
        <p:nvSpPr>
          <p:cNvPr id="4" name="Shape 2"/>
          <p:cNvSpPr/>
          <p:nvPr/>
        </p:nvSpPr>
        <p:spPr>
          <a:xfrm>
            <a:off x="548640" y="2240280"/>
            <a:ext cx="1371600" cy="960120"/>
          </a:xfrm>
          <a:prstGeom prst="roundRect">
            <a:avLst>
              <a:gd name="adj" fmla="val 9524"/>
            </a:avLst>
          </a:prstGeom>
          <a:solidFill>
            <a:srgbClr val="1F3B63"/>
          </a:solidFill>
          <a:ln w="12700">
            <a:solidFill>
              <a:srgbClr val="1F3B63"/>
            </a:solidFill>
            <a:prstDash val="solid"/>
          </a:ln>
        </p:spPr>
      </p:sp>
      <p:sp>
        <p:nvSpPr>
          <p:cNvPr id="5" name="Text 3"/>
          <p:cNvSpPr/>
          <p:nvPr/>
        </p:nvSpPr>
        <p:spPr>
          <a:xfrm>
            <a:off x="621792" y="2331720"/>
            <a:ext cx="1225296" cy="460858"/>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MUSE cube</a:t>
            </a:r>
            <a:endParaRPr lang="en-US" sz="1250" dirty="0"/>
          </a:p>
        </p:txBody>
      </p:sp>
      <p:sp>
        <p:nvSpPr>
          <p:cNvPr id="6" name="Text 4"/>
          <p:cNvSpPr/>
          <p:nvPr/>
        </p:nvSpPr>
        <p:spPr>
          <a:xfrm>
            <a:off x="621792" y="2720340"/>
            <a:ext cx="1225296" cy="432054"/>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96,093 spaxels</a:t>
            </a:r>
            <a:endParaRPr lang="en-US" sz="1000" dirty="0"/>
          </a:p>
        </p:txBody>
      </p:sp>
      <p:sp>
        <p:nvSpPr>
          <p:cNvPr id="7" name="Shape 5"/>
          <p:cNvSpPr/>
          <p:nvPr/>
        </p:nvSpPr>
        <p:spPr>
          <a:xfrm>
            <a:off x="1920240" y="2514600"/>
            <a:ext cx="502920" cy="0"/>
          </a:xfrm>
          <a:prstGeom prst="line">
            <a:avLst/>
          </a:prstGeom>
          <a:noFill/>
          <a:ln w="22225">
            <a:solidFill>
              <a:srgbClr val="3A5F8F"/>
            </a:solidFill>
            <a:prstDash val="solid"/>
            <a:tailEnd type="triangle"/>
          </a:ln>
        </p:spPr>
      </p:sp>
      <p:sp>
        <p:nvSpPr>
          <p:cNvPr id="8" name="Shape 6"/>
          <p:cNvSpPr/>
          <p:nvPr/>
        </p:nvSpPr>
        <p:spPr>
          <a:xfrm>
            <a:off x="2468880" y="1645920"/>
            <a:ext cx="1691640" cy="914400"/>
          </a:xfrm>
          <a:prstGeom prst="roundRect">
            <a:avLst>
              <a:gd name="adj" fmla="val 10000"/>
            </a:avLst>
          </a:prstGeom>
          <a:solidFill>
            <a:srgbClr val="EDF1F7"/>
          </a:solidFill>
          <a:ln w="12700">
            <a:solidFill>
              <a:srgbClr val="3A5F8F"/>
            </a:solidFill>
            <a:prstDash val="solid"/>
          </a:ln>
        </p:spPr>
      </p:sp>
      <p:sp>
        <p:nvSpPr>
          <p:cNvPr id="9" name="Text 7"/>
          <p:cNvSpPr/>
          <p:nvPr/>
        </p:nvSpPr>
        <p:spPr>
          <a:xfrm>
            <a:off x="2542032" y="1737360"/>
            <a:ext cx="1545336" cy="438912"/>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Spectrum</a:t>
            </a:r>
            <a:endParaRPr lang="en-US" sz="1250" dirty="0"/>
          </a:p>
        </p:txBody>
      </p:sp>
      <p:sp>
        <p:nvSpPr>
          <p:cNvPr id="10" name="Text 8"/>
          <p:cNvSpPr/>
          <p:nvPr/>
        </p:nvSpPr>
        <p:spPr>
          <a:xfrm>
            <a:off x="2542032" y="2103120"/>
            <a:ext cx="1545336" cy="411480"/>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3,681 points</a:t>
            </a:r>
            <a:endParaRPr lang="en-US" sz="1000" dirty="0"/>
          </a:p>
        </p:txBody>
      </p:sp>
      <p:sp>
        <p:nvSpPr>
          <p:cNvPr id="11" name="Shape 9"/>
          <p:cNvSpPr/>
          <p:nvPr/>
        </p:nvSpPr>
        <p:spPr>
          <a:xfrm>
            <a:off x="4160520" y="2103120"/>
            <a:ext cx="457200" cy="0"/>
          </a:xfrm>
          <a:prstGeom prst="line">
            <a:avLst/>
          </a:prstGeom>
          <a:noFill/>
          <a:ln w="22225">
            <a:solidFill>
              <a:srgbClr val="3A5F8F"/>
            </a:solidFill>
            <a:prstDash val="solid"/>
            <a:tailEnd type="triangle"/>
          </a:ln>
        </p:spPr>
      </p:sp>
      <p:sp>
        <p:nvSpPr>
          <p:cNvPr id="12" name="Shape 10"/>
          <p:cNvSpPr/>
          <p:nvPr/>
        </p:nvSpPr>
        <p:spPr>
          <a:xfrm>
            <a:off x="4663440" y="1645920"/>
            <a:ext cx="1691640" cy="914400"/>
          </a:xfrm>
          <a:prstGeom prst="roundRect">
            <a:avLst>
              <a:gd name="adj" fmla="val 10000"/>
            </a:avLst>
          </a:prstGeom>
          <a:solidFill>
            <a:srgbClr val="EDF1F7"/>
          </a:solidFill>
          <a:ln w="12700">
            <a:solidFill>
              <a:srgbClr val="3A5F8F"/>
            </a:solidFill>
            <a:prstDash val="solid"/>
          </a:ln>
        </p:spPr>
      </p:sp>
      <p:sp>
        <p:nvSpPr>
          <p:cNvPr id="13" name="Text 11"/>
          <p:cNvSpPr/>
          <p:nvPr/>
        </p:nvSpPr>
        <p:spPr>
          <a:xfrm>
            <a:off x="4736592" y="1737360"/>
            <a:ext cx="1545336" cy="438912"/>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1D CNN</a:t>
            </a:r>
            <a:endParaRPr lang="en-US" sz="1250" dirty="0"/>
          </a:p>
        </p:txBody>
      </p:sp>
      <p:sp>
        <p:nvSpPr>
          <p:cNvPr id="14" name="Text 12"/>
          <p:cNvSpPr/>
          <p:nvPr/>
        </p:nvSpPr>
        <p:spPr>
          <a:xfrm>
            <a:off x="4736592" y="2103120"/>
            <a:ext cx="1545336" cy="411480"/>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3 conv blocks → 64-d</a:t>
            </a:r>
            <a:endParaRPr lang="en-US" sz="1000" dirty="0"/>
          </a:p>
        </p:txBody>
      </p:sp>
      <p:sp>
        <p:nvSpPr>
          <p:cNvPr id="15" name="Shape 13"/>
          <p:cNvSpPr/>
          <p:nvPr/>
        </p:nvSpPr>
        <p:spPr>
          <a:xfrm>
            <a:off x="6355080" y="2103120"/>
            <a:ext cx="457200" cy="0"/>
          </a:xfrm>
          <a:prstGeom prst="line">
            <a:avLst/>
          </a:prstGeom>
          <a:noFill/>
          <a:ln w="22225">
            <a:solidFill>
              <a:srgbClr val="3A5F8F"/>
            </a:solidFill>
            <a:prstDash val="solid"/>
            <a:tailEnd type="triangle"/>
          </a:ln>
        </p:spPr>
      </p:sp>
      <p:sp>
        <p:nvSpPr>
          <p:cNvPr id="16" name="Shape 14"/>
          <p:cNvSpPr/>
          <p:nvPr/>
        </p:nvSpPr>
        <p:spPr>
          <a:xfrm>
            <a:off x="6858000" y="1645920"/>
            <a:ext cx="1463040" cy="914400"/>
          </a:xfrm>
          <a:prstGeom prst="roundRect">
            <a:avLst>
              <a:gd name="adj" fmla="val 10000"/>
            </a:avLst>
          </a:prstGeom>
          <a:solidFill>
            <a:srgbClr val="EDF1F7"/>
          </a:solidFill>
          <a:ln w="12700">
            <a:solidFill>
              <a:srgbClr val="3A5F8F"/>
            </a:solidFill>
            <a:prstDash val="solid"/>
          </a:ln>
        </p:spPr>
      </p:sp>
      <p:sp>
        <p:nvSpPr>
          <p:cNvPr id="17" name="Text 15"/>
          <p:cNvSpPr/>
          <p:nvPr/>
        </p:nvSpPr>
        <p:spPr>
          <a:xfrm>
            <a:off x="6931152" y="1737360"/>
            <a:ext cx="1316736" cy="438912"/>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Projection</a:t>
            </a:r>
            <a:endParaRPr lang="en-US" sz="1250" dirty="0"/>
          </a:p>
        </p:txBody>
      </p:sp>
      <p:sp>
        <p:nvSpPr>
          <p:cNvPr id="18" name="Text 16"/>
          <p:cNvSpPr/>
          <p:nvPr/>
        </p:nvSpPr>
        <p:spPr>
          <a:xfrm>
            <a:off x="6931152" y="2103120"/>
            <a:ext cx="1316736" cy="411480"/>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 32-d, L2-norm</a:t>
            </a:r>
            <a:endParaRPr lang="en-US" sz="1000" dirty="0"/>
          </a:p>
        </p:txBody>
      </p:sp>
      <p:sp>
        <p:nvSpPr>
          <p:cNvPr id="19" name="Shape 17"/>
          <p:cNvSpPr/>
          <p:nvPr/>
        </p:nvSpPr>
        <p:spPr>
          <a:xfrm>
            <a:off x="1920240" y="2926080"/>
            <a:ext cx="502920" cy="411480"/>
          </a:xfrm>
          <a:prstGeom prst="line">
            <a:avLst/>
          </a:prstGeom>
          <a:noFill/>
          <a:ln w="22225">
            <a:solidFill>
              <a:srgbClr val="3A5F8F"/>
            </a:solidFill>
            <a:prstDash val="solid"/>
            <a:tailEnd type="triangle"/>
          </a:ln>
        </p:spPr>
      </p:sp>
      <p:sp>
        <p:nvSpPr>
          <p:cNvPr id="20" name="Shape 18"/>
          <p:cNvSpPr/>
          <p:nvPr/>
        </p:nvSpPr>
        <p:spPr>
          <a:xfrm>
            <a:off x="2468880" y="2880360"/>
            <a:ext cx="1691640" cy="914400"/>
          </a:xfrm>
          <a:prstGeom prst="roundRect">
            <a:avLst>
              <a:gd name="adj" fmla="val 10000"/>
            </a:avLst>
          </a:prstGeom>
          <a:solidFill>
            <a:srgbClr val="EDF1F7"/>
          </a:solidFill>
          <a:ln w="12700">
            <a:solidFill>
              <a:srgbClr val="3A5F8F"/>
            </a:solidFill>
            <a:prstDash val="solid"/>
          </a:ln>
        </p:spPr>
      </p:sp>
      <p:sp>
        <p:nvSpPr>
          <p:cNvPr id="21" name="Text 19"/>
          <p:cNvSpPr/>
          <p:nvPr/>
        </p:nvSpPr>
        <p:spPr>
          <a:xfrm>
            <a:off x="2542032" y="2971800"/>
            <a:ext cx="1545336" cy="438912"/>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Patch 7 x 7</a:t>
            </a:r>
            <a:endParaRPr lang="en-US" sz="1250" dirty="0"/>
          </a:p>
        </p:txBody>
      </p:sp>
      <p:sp>
        <p:nvSpPr>
          <p:cNvPr id="22" name="Text 20"/>
          <p:cNvSpPr/>
          <p:nvPr/>
        </p:nvSpPr>
        <p:spPr>
          <a:xfrm>
            <a:off x="2542032" y="3337560"/>
            <a:ext cx="1545336" cy="411480"/>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6 channels</a:t>
            </a:r>
            <a:endParaRPr lang="en-US" sz="1000" dirty="0"/>
          </a:p>
        </p:txBody>
      </p:sp>
      <p:sp>
        <p:nvSpPr>
          <p:cNvPr id="23" name="Shape 21"/>
          <p:cNvSpPr/>
          <p:nvPr/>
        </p:nvSpPr>
        <p:spPr>
          <a:xfrm>
            <a:off x="4160520" y="3337560"/>
            <a:ext cx="457200" cy="0"/>
          </a:xfrm>
          <a:prstGeom prst="line">
            <a:avLst/>
          </a:prstGeom>
          <a:noFill/>
          <a:ln w="22225">
            <a:solidFill>
              <a:srgbClr val="3A5F8F"/>
            </a:solidFill>
            <a:prstDash val="solid"/>
            <a:tailEnd type="triangle"/>
          </a:ln>
        </p:spPr>
      </p:sp>
      <p:sp>
        <p:nvSpPr>
          <p:cNvPr id="24" name="Shape 22"/>
          <p:cNvSpPr/>
          <p:nvPr/>
        </p:nvSpPr>
        <p:spPr>
          <a:xfrm>
            <a:off x="4663440" y="2880360"/>
            <a:ext cx="1691640" cy="914400"/>
          </a:xfrm>
          <a:prstGeom prst="roundRect">
            <a:avLst>
              <a:gd name="adj" fmla="val 10000"/>
            </a:avLst>
          </a:prstGeom>
          <a:solidFill>
            <a:srgbClr val="EDF1F7"/>
          </a:solidFill>
          <a:ln w="12700">
            <a:solidFill>
              <a:srgbClr val="3A5F8F"/>
            </a:solidFill>
            <a:prstDash val="solid"/>
          </a:ln>
        </p:spPr>
      </p:sp>
      <p:sp>
        <p:nvSpPr>
          <p:cNvPr id="25" name="Text 23"/>
          <p:cNvSpPr/>
          <p:nvPr/>
        </p:nvSpPr>
        <p:spPr>
          <a:xfrm>
            <a:off x="4736592" y="2971800"/>
            <a:ext cx="1545336" cy="438912"/>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2D CNN</a:t>
            </a:r>
            <a:endParaRPr lang="en-US" sz="1250" dirty="0"/>
          </a:p>
        </p:txBody>
      </p:sp>
      <p:sp>
        <p:nvSpPr>
          <p:cNvPr id="26" name="Text 24"/>
          <p:cNvSpPr/>
          <p:nvPr/>
        </p:nvSpPr>
        <p:spPr>
          <a:xfrm>
            <a:off x="4736592" y="3337560"/>
            <a:ext cx="1545336" cy="411480"/>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2 conv blocks → 64-d</a:t>
            </a:r>
            <a:endParaRPr lang="en-US" sz="1000" dirty="0"/>
          </a:p>
        </p:txBody>
      </p:sp>
      <p:sp>
        <p:nvSpPr>
          <p:cNvPr id="27" name="Shape 25"/>
          <p:cNvSpPr/>
          <p:nvPr/>
        </p:nvSpPr>
        <p:spPr>
          <a:xfrm>
            <a:off x="6355080" y="3337560"/>
            <a:ext cx="457200" cy="0"/>
          </a:xfrm>
          <a:prstGeom prst="line">
            <a:avLst/>
          </a:prstGeom>
          <a:noFill/>
          <a:ln w="22225">
            <a:solidFill>
              <a:srgbClr val="3A5F8F"/>
            </a:solidFill>
            <a:prstDash val="solid"/>
            <a:tailEnd type="triangle"/>
          </a:ln>
        </p:spPr>
      </p:sp>
      <p:sp>
        <p:nvSpPr>
          <p:cNvPr id="28" name="Shape 26"/>
          <p:cNvSpPr/>
          <p:nvPr/>
        </p:nvSpPr>
        <p:spPr>
          <a:xfrm>
            <a:off x="6858000" y="2880360"/>
            <a:ext cx="1463040" cy="914400"/>
          </a:xfrm>
          <a:prstGeom prst="roundRect">
            <a:avLst>
              <a:gd name="adj" fmla="val 10000"/>
            </a:avLst>
          </a:prstGeom>
          <a:solidFill>
            <a:srgbClr val="EDF1F7"/>
          </a:solidFill>
          <a:ln w="12700">
            <a:solidFill>
              <a:srgbClr val="3A5F8F"/>
            </a:solidFill>
            <a:prstDash val="solid"/>
          </a:ln>
        </p:spPr>
      </p:sp>
      <p:sp>
        <p:nvSpPr>
          <p:cNvPr id="29" name="Text 27"/>
          <p:cNvSpPr/>
          <p:nvPr/>
        </p:nvSpPr>
        <p:spPr>
          <a:xfrm>
            <a:off x="6931152" y="2971800"/>
            <a:ext cx="1316736" cy="438912"/>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Projection</a:t>
            </a:r>
            <a:endParaRPr lang="en-US" sz="1250" dirty="0"/>
          </a:p>
        </p:txBody>
      </p:sp>
      <p:sp>
        <p:nvSpPr>
          <p:cNvPr id="30" name="Text 28"/>
          <p:cNvSpPr/>
          <p:nvPr/>
        </p:nvSpPr>
        <p:spPr>
          <a:xfrm>
            <a:off x="6931152" y="3337560"/>
            <a:ext cx="1316736" cy="411480"/>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 32-d, L2-norm</a:t>
            </a:r>
            <a:endParaRPr lang="en-US" sz="1000" dirty="0"/>
          </a:p>
        </p:txBody>
      </p:sp>
      <p:sp>
        <p:nvSpPr>
          <p:cNvPr id="31" name="Shape 29"/>
          <p:cNvSpPr/>
          <p:nvPr/>
        </p:nvSpPr>
        <p:spPr>
          <a:xfrm>
            <a:off x="8321040" y="2103120"/>
            <a:ext cx="685800" cy="594360"/>
          </a:xfrm>
          <a:prstGeom prst="line">
            <a:avLst/>
          </a:prstGeom>
          <a:noFill/>
          <a:ln w="22225">
            <a:solidFill>
              <a:srgbClr val="3A5F8F"/>
            </a:solidFill>
            <a:prstDash val="solid"/>
            <a:tailEnd type="triangle"/>
          </a:ln>
        </p:spPr>
      </p:sp>
      <p:sp>
        <p:nvSpPr>
          <p:cNvPr id="32" name="Shape 30"/>
          <p:cNvSpPr/>
          <p:nvPr/>
        </p:nvSpPr>
        <p:spPr>
          <a:xfrm>
            <a:off x="8321040" y="3337560"/>
            <a:ext cx="685800" cy="0"/>
          </a:xfrm>
          <a:prstGeom prst="line">
            <a:avLst/>
          </a:prstGeom>
          <a:noFill/>
          <a:ln w="22225">
            <a:solidFill>
              <a:srgbClr val="3A5F8F"/>
            </a:solidFill>
            <a:prstDash val="solid"/>
            <a:tailEnd type="triangle"/>
          </a:ln>
        </p:spPr>
      </p:sp>
      <p:sp>
        <p:nvSpPr>
          <p:cNvPr id="33" name="Shape 31"/>
          <p:cNvSpPr/>
          <p:nvPr/>
        </p:nvSpPr>
        <p:spPr>
          <a:xfrm>
            <a:off x="9052560" y="1965960"/>
            <a:ext cx="2587752" cy="1234440"/>
          </a:xfrm>
          <a:prstGeom prst="roundRect">
            <a:avLst>
              <a:gd name="adj" fmla="val 7407"/>
            </a:avLst>
          </a:prstGeom>
          <a:solidFill>
            <a:srgbClr val="FBF2DF"/>
          </a:solidFill>
          <a:ln w="12700">
            <a:solidFill>
              <a:srgbClr val="E8A61E"/>
            </a:solidFill>
            <a:prstDash val="solid"/>
          </a:ln>
        </p:spPr>
      </p:sp>
      <p:sp>
        <p:nvSpPr>
          <p:cNvPr id="34" name="Text 32"/>
          <p:cNvSpPr/>
          <p:nvPr/>
        </p:nvSpPr>
        <p:spPr>
          <a:xfrm>
            <a:off x="9125712" y="2057400"/>
            <a:ext cx="2441448" cy="592531"/>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Symmetric InfoNCE</a:t>
            </a:r>
            <a:endParaRPr lang="en-US" sz="1250" dirty="0"/>
          </a:p>
        </p:txBody>
      </p:sp>
      <p:sp>
        <p:nvSpPr>
          <p:cNvPr id="35" name="Text 33"/>
          <p:cNvSpPr/>
          <p:nvPr/>
        </p:nvSpPr>
        <p:spPr>
          <a:xfrm>
            <a:off x="9125712" y="2583180"/>
            <a:ext cx="2441448" cy="555498"/>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each spectrum must find its own patch, and each patch its own spectrum</a:t>
            </a:r>
            <a:endParaRPr lang="en-US" sz="1000" dirty="0"/>
          </a:p>
        </p:txBody>
      </p:sp>
      <p:sp>
        <p:nvSpPr>
          <p:cNvPr id="36" name="Shape 34"/>
          <p:cNvSpPr/>
          <p:nvPr/>
        </p:nvSpPr>
        <p:spPr>
          <a:xfrm>
            <a:off x="10332720" y="3200400"/>
            <a:ext cx="0" cy="502920"/>
          </a:xfrm>
          <a:prstGeom prst="line">
            <a:avLst/>
          </a:prstGeom>
          <a:noFill/>
          <a:ln w="22225">
            <a:solidFill>
              <a:srgbClr val="3A5F8F"/>
            </a:solidFill>
            <a:prstDash val="solid"/>
            <a:tailEnd type="triangle"/>
          </a:ln>
        </p:spPr>
      </p:sp>
      <p:sp>
        <p:nvSpPr>
          <p:cNvPr id="37" name="Shape 35"/>
          <p:cNvSpPr/>
          <p:nvPr/>
        </p:nvSpPr>
        <p:spPr>
          <a:xfrm>
            <a:off x="9052560" y="3703320"/>
            <a:ext cx="2587752" cy="868680"/>
          </a:xfrm>
          <a:prstGeom prst="roundRect">
            <a:avLst>
              <a:gd name="adj" fmla="val 10526"/>
            </a:avLst>
          </a:prstGeom>
          <a:solidFill>
            <a:srgbClr val="EDF1F7"/>
          </a:solidFill>
          <a:ln w="12700">
            <a:solidFill>
              <a:srgbClr val="3A5F8F"/>
            </a:solidFill>
            <a:prstDash val="solid"/>
          </a:ln>
        </p:spPr>
      </p:sp>
      <p:sp>
        <p:nvSpPr>
          <p:cNvPr id="38" name="Text 36"/>
          <p:cNvSpPr/>
          <p:nvPr/>
        </p:nvSpPr>
        <p:spPr>
          <a:xfrm>
            <a:off x="9125712" y="3794760"/>
            <a:ext cx="2441448" cy="416966"/>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Trained embeddings</a:t>
            </a:r>
            <a:endParaRPr lang="en-US" sz="1250" dirty="0"/>
          </a:p>
        </p:txBody>
      </p:sp>
      <p:sp>
        <p:nvSpPr>
          <p:cNvPr id="39" name="Text 37"/>
          <p:cNvSpPr/>
          <p:nvPr/>
        </p:nvSpPr>
        <p:spPr>
          <a:xfrm>
            <a:off x="9125712" y="4137660"/>
            <a:ext cx="2441448" cy="390906"/>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96,093 x 64-d</a:t>
            </a:r>
            <a:endParaRPr lang="en-US" sz="1000" dirty="0"/>
          </a:p>
        </p:txBody>
      </p:sp>
      <p:sp>
        <p:nvSpPr>
          <p:cNvPr id="40" name="Shape 38"/>
          <p:cNvSpPr/>
          <p:nvPr/>
        </p:nvSpPr>
        <p:spPr>
          <a:xfrm>
            <a:off x="9052560" y="4133088"/>
            <a:ext cx="0" cy="0"/>
          </a:xfrm>
          <a:prstGeom prst="line">
            <a:avLst/>
          </a:prstGeom>
          <a:noFill/>
          <a:ln w="22225">
            <a:solidFill>
              <a:srgbClr val="3A5F8F"/>
            </a:solidFill>
            <a:prstDash val="solid"/>
            <a:tailEnd type="triangle"/>
          </a:ln>
        </p:spPr>
      </p:sp>
      <p:sp>
        <p:nvSpPr>
          <p:cNvPr id="41" name="Shape 39"/>
          <p:cNvSpPr/>
          <p:nvPr/>
        </p:nvSpPr>
        <p:spPr>
          <a:xfrm>
            <a:off x="6035040" y="3703320"/>
            <a:ext cx="2194560" cy="868680"/>
          </a:xfrm>
          <a:prstGeom prst="roundRect">
            <a:avLst>
              <a:gd name="adj" fmla="val 10526"/>
            </a:avLst>
          </a:prstGeom>
          <a:solidFill>
            <a:srgbClr val="EDF1F7"/>
          </a:solidFill>
          <a:ln w="12700">
            <a:solidFill>
              <a:srgbClr val="3A5F8F"/>
            </a:solidFill>
            <a:prstDash val="solid"/>
          </a:ln>
        </p:spPr>
      </p:sp>
      <p:sp>
        <p:nvSpPr>
          <p:cNvPr id="42" name="Text 40"/>
          <p:cNvSpPr/>
          <p:nvPr/>
        </p:nvSpPr>
        <p:spPr>
          <a:xfrm>
            <a:off x="6108192" y="3794760"/>
            <a:ext cx="2048256" cy="416966"/>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KMeans, K = 3</a:t>
            </a:r>
            <a:endParaRPr lang="en-US" sz="1250" dirty="0"/>
          </a:p>
        </p:txBody>
      </p:sp>
      <p:sp>
        <p:nvSpPr>
          <p:cNvPr id="43" name="Text 41"/>
          <p:cNvSpPr/>
          <p:nvPr/>
        </p:nvSpPr>
        <p:spPr>
          <a:xfrm>
            <a:off x="6108192" y="4137660"/>
            <a:ext cx="2048256" cy="390906"/>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no labels used</a:t>
            </a:r>
            <a:endParaRPr lang="en-US" sz="1000" dirty="0"/>
          </a:p>
        </p:txBody>
      </p:sp>
      <p:sp>
        <p:nvSpPr>
          <p:cNvPr id="44" name="Shape 42"/>
          <p:cNvSpPr/>
          <p:nvPr/>
        </p:nvSpPr>
        <p:spPr>
          <a:xfrm>
            <a:off x="6035040" y="4133088"/>
            <a:ext cx="0" cy="0"/>
          </a:xfrm>
          <a:prstGeom prst="line">
            <a:avLst/>
          </a:prstGeom>
          <a:noFill/>
          <a:ln w="22225">
            <a:solidFill>
              <a:srgbClr val="3A5F8F"/>
            </a:solidFill>
            <a:prstDash val="solid"/>
            <a:tailEnd type="triangle"/>
          </a:ln>
        </p:spPr>
      </p:sp>
      <p:sp>
        <p:nvSpPr>
          <p:cNvPr id="45" name="Shape 43"/>
          <p:cNvSpPr/>
          <p:nvPr/>
        </p:nvSpPr>
        <p:spPr>
          <a:xfrm>
            <a:off x="3063240" y="3703320"/>
            <a:ext cx="2286000" cy="868680"/>
          </a:xfrm>
          <a:prstGeom prst="roundRect">
            <a:avLst>
              <a:gd name="adj" fmla="val 10526"/>
            </a:avLst>
          </a:prstGeom>
          <a:solidFill>
            <a:srgbClr val="EDF1F7"/>
          </a:solidFill>
          <a:ln w="12700">
            <a:solidFill>
              <a:srgbClr val="3A5F8F"/>
            </a:solidFill>
            <a:prstDash val="solid"/>
          </a:ln>
        </p:spPr>
      </p:sp>
      <p:sp>
        <p:nvSpPr>
          <p:cNvPr id="46" name="Text 44"/>
          <p:cNvSpPr/>
          <p:nvPr/>
        </p:nvSpPr>
        <p:spPr>
          <a:xfrm>
            <a:off x="3136392" y="3794760"/>
            <a:ext cx="2139696" cy="416966"/>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Region map</a:t>
            </a:r>
            <a:endParaRPr lang="en-US" sz="1250" dirty="0"/>
          </a:p>
        </p:txBody>
      </p:sp>
      <p:sp>
        <p:nvSpPr>
          <p:cNvPr id="47" name="Text 45"/>
          <p:cNvSpPr/>
          <p:nvPr/>
        </p:nvSpPr>
        <p:spPr>
          <a:xfrm>
            <a:off x="3136392" y="4137660"/>
            <a:ext cx="2139696" cy="390906"/>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jet / diffuse / points</a:t>
            </a:r>
            <a:endParaRPr lang="en-US" sz="1000" dirty="0"/>
          </a:p>
        </p:txBody>
      </p:sp>
      <p:sp>
        <p:nvSpPr>
          <p:cNvPr id="48" name="Shape 46"/>
          <p:cNvSpPr/>
          <p:nvPr/>
        </p:nvSpPr>
        <p:spPr>
          <a:xfrm>
            <a:off x="3063240" y="4133088"/>
            <a:ext cx="0" cy="0"/>
          </a:xfrm>
          <a:prstGeom prst="line">
            <a:avLst/>
          </a:prstGeom>
          <a:noFill/>
          <a:ln w="22225">
            <a:solidFill>
              <a:srgbClr val="3A5F8F"/>
            </a:solidFill>
            <a:prstDash val="solid"/>
            <a:tailEnd type="triangle"/>
          </a:ln>
        </p:spPr>
      </p:sp>
      <p:sp>
        <p:nvSpPr>
          <p:cNvPr id="49" name="Shape 47"/>
          <p:cNvSpPr/>
          <p:nvPr/>
        </p:nvSpPr>
        <p:spPr>
          <a:xfrm>
            <a:off x="548640" y="3703320"/>
            <a:ext cx="1828800" cy="868680"/>
          </a:xfrm>
          <a:prstGeom prst="roundRect">
            <a:avLst>
              <a:gd name="adj" fmla="val 10526"/>
            </a:avLst>
          </a:prstGeom>
          <a:solidFill>
            <a:srgbClr val="1F3B63"/>
          </a:solidFill>
          <a:ln w="12700">
            <a:solidFill>
              <a:srgbClr val="1F3B63"/>
            </a:solidFill>
            <a:prstDash val="solid"/>
          </a:ln>
        </p:spPr>
      </p:sp>
      <p:sp>
        <p:nvSpPr>
          <p:cNvPr id="50" name="Text 48"/>
          <p:cNvSpPr/>
          <p:nvPr/>
        </p:nvSpPr>
        <p:spPr>
          <a:xfrm>
            <a:off x="621792" y="3794760"/>
            <a:ext cx="1682496" cy="416966"/>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Compare</a:t>
            </a:r>
            <a:endParaRPr lang="en-US" sz="1250" dirty="0"/>
          </a:p>
        </p:txBody>
      </p:sp>
      <p:sp>
        <p:nvSpPr>
          <p:cNvPr id="51" name="Text 49"/>
          <p:cNvSpPr/>
          <p:nvPr/>
        </p:nvSpPr>
        <p:spPr>
          <a:xfrm>
            <a:off x="621792" y="4137660"/>
            <a:ext cx="1682496" cy="390906"/>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vs [N II]/Hα map</a:t>
            </a:r>
            <a:endParaRPr lang="en-US" sz="1000" dirty="0"/>
          </a:p>
        </p:txBody>
      </p:sp>
      <p:sp>
        <p:nvSpPr>
          <p:cNvPr id="52" name="Shape 50"/>
          <p:cNvSpPr/>
          <p:nvPr/>
        </p:nvSpPr>
        <p:spPr>
          <a:xfrm>
            <a:off x="548640" y="5212080"/>
            <a:ext cx="11091672" cy="749808"/>
          </a:xfrm>
          <a:prstGeom prst="roundRect">
            <a:avLst>
              <a:gd name="adj" fmla="val 7317"/>
            </a:avLst>
          </a:prstGeom>
          <a:solidFill>
            <a:srgbClr val="1F3B63"/>
          </a:solidFill>
          <a:ln w="12700">
            <a:solidFill>
              <a:srgbClr val="1F3B63"/>
            </a:solidFill>
            <a:prstDash val="solid"/>
          </a:ln>
        </p:spPr>
      </p:sp>
      <p:sp>
        <p:nvSpPr>
          <p:cNvPr id="53" name="Text 51"/>
          <p:cNvSpPr/>
          <p:nvPr/>
        </p:nvSpPr>
        <p:spPr>
          <a:xfrm>
            <a:off x="777240" y="525780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Nothing in this diagram is ever told where the jet is. The only supervision is the fact that a spectrum and its own neighbourhood belong together.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1: What Came Out</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 2 — RESULTS, INCLUDING THE WEAK ONE</a:t>
            </a:r>
            <a:endParaRPr lang="en-US" sz="1100" dirty="0"/>
          </a:p>
        </p:txBody>
      </p:sp>
      <p:pic>
        <p:nvPicPr>
          <p:cNvPr id="4" name="Image 0" descr="figs/fig-002.png"/>
          <p:cNvPicPr>
            <a:picLocks noChangeAspect="1"/>
          </p:cNvPicPr>
          <p:nvPr/>
        </p:nvPicPr>
        <p:blipFill>
          <a:blip r:embed="rId3"/>
          <a:stretch>
            <a:fillRect/>
          </a:stretch>
        </p:blipFill>
        <p:spPr>
          <a:xfrm>
            <a:off x="640080" y="1463040"/>
            <a:ext cx="4343400" cy="3611880"/>
          </a:xfrm>
          <a:prstGeom prst="rect">
            <a:avLst/>
          </a:prstGeom>
        </p:spPr>
      </p:pic>
      <p:sp>
        <p:nvSpPr>
          <p:cNvPr id="5" name="Text 2"/>
          <p:cNvSpPr/>
          <p:nvPr/>
        </p:nvSpPr>
        <p:spPr>
          <a:xfrm>
            <a:off x="640080" y="5166360"/>
            <a:ext cx="4343400" cy="457200"/>
          </a:xfrm>
          <a:prstGeom prst="rect">
            <a:avLst/>
          </a:prstGeom>
          <a:noFill/>
          <a:ln/>
        </p:spPr>
        <p:txBody>
          <a:bodyPr wrap="square" lIns="0" tIns="0" rIns="0" bIns="0" rtlCol="0" anchor="t"/>
          <a:lstStyle/>
          <a:p>
            <a:pPr marL="0" indent="0">
              <a:lnSpc>
                <a:spcPts val="1300"/>
              </a:lnSpc>
              <a:buNone/>
            </a:pPr>
            <a:r>
              <a:rPr lang="en-US" sz="1050" i="1" dirty="0">
                <a:solidFill>
                  <a:srgbClr val="5B6675"/>
                </a:solidFill>
                <a:latin typeface="Calibri" pitchFamily="34" charset="0"/>
                <a:ea typeface="Calibri" pitchFamily="34" charset="-122"/>
                <a:cs typeface="Calibri" pitchFamily="34" charset="-120"/>
              </a:rPr>
              <a:t>Model 1's K=3 cluster boundary (white contour) drawn on the hand-built [N II]/Hα map. The model never saw that map.</a:t>
            </a:r>
            <a:endParaRPr lang="en-US" sz="1050" dirty="0"/>
          </a:p>
        </p:txBody>
      </p:sp>
      <p:sp>
        <p:nvSpPr>
          <p:cNvPr id="6" name="Text 3"/>
          <p:cNvSpPr/>
          <p:nvPr/>
        </p:nvSpPr>
        <p:spPr>
          <a:xfrm>
            <a:off x="5303520" y="1463040"/>
            <a:ext cx="6355080" cy="3291840"/>
          </a:xfrm>
          <a:prstGeom prst="rect">
            <a:avLst/>
          </a:prstGeom>
          <a:noFill/>
          <a:ln/>
        </p:spPr>
        <p:txBody>
          <a:bodyPr wrap="square" lIns="0" tIns="0" rIns="0" bIns="0" rtlCol="0" anchor="t"/>
          <a:lstStyle/>
          <a:p>
            <a:pPr marL="342900" indent="-342900">
              <a:lnSpc>
                <a:spcPts val="1664"/>
              </a:lnSpc>
              <a:spcAft>
                <a:spcPts val="800"/>
              </a:spcAft>
              <a:buSzPct val="100000"/>
              <a:buChar char="•"/>
            </a:pPr>
            <a:r>
              <a:rPr lang="en-US" sz="1300" dirty="0">
                <a:solidFill>
                  <a:srgbClr val="202020"/>
                </a:solidFill>
                <a:latin typeface="Calibri" pitchFamily="34" charset="0"/>
                <a:ea typeface="Calibri" pitchFamily="34" charset="-122"/>
                <a:cs typeface="Calibri" pitchFamily="34" charset="-120"/>
              </a:rPr>
              <a:t>Synthetic ARI 1.000. This confirms the training loop and loss are wired correctly, and nothing more, since the planted classes were designed to be trivially separable.</a:t>
            </a:r>
            <a:endParaRPr lang="en-US" sz="1300" dirty="0"/>
          </a:p>
          <a:p>
            <a:pPr marL="342900" indent="-342900">
              <a:lnSpc>
                <a:spcPts val="1664"/>
              </a:lnSpc>
              <a:spcAft>
                <a:spcPts val="800"/>
              </a:spcAft>
              <a:buSzPct val="100000"/>
              <a:buChar char="•"/>
            </a:pPr>
            <a:r>
              <a:rPr lang="en-US" sz="1300" dirty="0">
                <a:solidFill>
                  <a:srgbClr val="202020"/>
                </a:solidFill>
                <a:latin typeface="Calibri" pitchFamily="34" charset="0"/>
                <a:ea typeface="Calibri" pitchFamily="34" charset="-122"/>
                <a:cs typeface="Calibri" pitchFamily="34" charset="-120"/>
              </a:rPr>
              <a:t>Real-cube training loss fell from 5.19 to 1.63 over 15 epochs.</a:t>
            </a:r>
            <a:endParaRPr lang="en-US" sz="1300" dirty="0"/>
          </a:p>
          <a:p>
            <a:pPr marL="342900" indent="-342900">
              <a:lnSpc>
                <a:spcPts val="1664"/>
              </a:lnSpc>
              <a:spcAft>
                <a:spcPts val="800"/>
              </a:spcAft>
              <a:buSzPct val="100000"/>
              <a:buChar char="•"/>
            </a:pPr>
            <a:r>
              <a:rPr lang="en-US" sz="1300" dirty="0">
                <a:solidFill>
                  <a:srgbClr val="202020"/>
                </a:solidFill>
                <a:latin typeface="Calibri" pitchFamily="34" charset="0"/>
                <a:ea typeface="Calibri" pitchFamily="34" charset="-122"/>
                <a:cs typeface="Calibri" pitchFamily="34" charset="-120"/>
              </a:rPr>
              <a:t>K=3 clusters: 80,303 spaxels of diffuse background, 12,974 in a jet-ridge-shaped cluster, and 1,470 scattered circular regions that cross-check against the white-light continuum map as real point sources.</a:t>
            </a:r>
            <a:endParaRPr lang="en-US" sz="1300" dirty="0"/>
          </a:p>
          <a:p>
            <a:pPr marL="342900" indent="-342900">
              <a:lnSpc>
                <a:spcPts val="1664"/>
              </a:lnSpc>
              <a:spcAft>
                <a:spcPts val="800"/>
              </a:spcAft>
              <a:buSzPct val="100000"/>
              <a:buChar char="•"/>
            </a:pPr>
            <a:r>
              <a:rPr lang="en-US" sz="1300" dirty="0">
                <a:solidFill>
                  <a:srgbClr val="202020"/>
                </a:solidFill>
                <a:latin typeface="Calibri" pitchFamily="34" charset="0"/>
                <a:ea typeface="Calibri" pitchFamily="34" charset="-122"/>
                <a:cs typeface="Calibri" pitchFamily="34" charset="-120"/>
              </a:rPr>
              <a:t>The jet cluster sits almost exactly on the high [N II]/Hα band from the baseline. K=4 splits the background along a smooth curved boundary, which looks like real sub-structure rather than noise.</a:t>
            </a:r>
            <a:endParaRPr lang="en-US" sz="1300" dirty="0"/>
          </a:p>
        </p:txBody>
      </p:sp>
      <p:sp>
        <p:nvSpPr>
          <p:cNvPr id="8" name="Text 5"/>
          <p:cNvSpPr/>
          <p:nvPr/>
        </p:nvSpPr>
        <p:spPr>
          <a:xfrm>
            <a:off x="5486400" y="4736592"/>
            <a:ext cx="5989320" cy="274320"/>
          </a:xfrm>
          <a:prstGeom prst="rect">
            <a:avLst/>
          </a:prstGeom>
          <a:noFill/>
          <a:ln/>
        </p:spPr>
        <p:txBody>
          <a:bodyPr wrap="square" lIns="0" tIns="0" rIns="0" bIns="0" rtlCol="0" anchor="ctr"/>
          <a:lstStyle/>
          <a:p>
            <a:pPr marL="0" indent="0">
              <a:buNone/>
            </a:pPr>
            <a:endParaRPr lang="en-US" sz="1400" dirty="0"/>
          </a:p>
        </p:txBody>
      </p:sp>
      <p:sp>
        <p:nvSpPr>
          <p:cNvPr id="9" name="Text 6"/>
          <p:cNvSpPr/>
          <p:nvPr/>
        </p:nvSpPr>
        <p:spPr>
          <a:xfrm>
            <a:off x="5486400" y="5038344"/>
            <a:ext cx="5989320" cy="868680"/>
          </a:xfrm>
          <a:prstGeom prst="rect">
            <a:avLst/>
          </a:prstGeom>
          <a:noFill/>
          <a:ln/>
        </p:spPr>
        <p:txBody>
          <a:bodyPr wrap="square" lIns="0" tIns="0" rIns="0" bIns="0" rtlCol="0" anchor="t"/>
          <a:lstStyle/>
          <a:p>
            <a:pPr marL="0" indent="0">
              <a:lnSpc>
                <a:spcPts val="1500"/>
              </a:lnSpc>
              <a:buNone/>
            </a:pP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2: Zero-Shot Classification From Plain English</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 3 — SPECTRA MATCHED TO SENTENCES</a:t>
            </a:r>
            <a:endParaRPr lang="en-US" sz="1100" dirty="0"/>
          </a:p>
        </p:txBody>
      </p:sp>
      <p:sp>
        <p:nvSpPr>
          <p:cNvPr id="4" name="Text 2"/>
          <p:cNvSpPr/>
          <p:nvPr/>
        </p:nvSpPr>
        <p:spPr>
          <a:xfrm>
            <a:off x="548640" y="1371600"/>
            <a:ext cx="11091672" cy="548640"/>
          </a:xfrm>
          <a:prstGeom prst="rect">
            <a:avLst/>
          </a:prstGeom>
          <a:noFill/>
          <a:ln/>
        </p:spPr>
        <p:txBody>
          <a:bodyPr wrap="square" lIns="0" tIns="0" rIns="0" bIns="0" rtlCol="0" anchor="ctr"/>
          <a:lstStyle/>
          <a:p>
            <a:pPr marL="0" indent="0">
              <a:lnSpc>
                <a:spcPts val="1800"/>
              </a:lnSpc>
              <a:buNone/>
            </a:pPr>
            <a:r>
              <a:rPr lang="en-US" sz="1350" dirty="0">
                <a:solidFill>
                  <a:srgbClr val="202020"/>
                </a:solidFill>
                <a:latin typeface="Calibri" pitchFamily="34" charset="0"/>
                <a:ea typeface="Calibri" pitchFamily="34" charset="-122"/>
                <a:cs typeface="Calibri" pitchFamily="34" charset="-120"/>
              </a:rPr>
              <a:t>Goal: classify a spectrum against a small set of natural-language descriptions without ever training a fixed classifier head, so a new class can be added by writing a new sentence instead of retraining.</a:t>
            </a:r>
            <a:endParaRPr lang="en-US" sz="1350" dirty="0"/>
          </a:p>
        </p:txBody>
      </p:sp>
      <p:sp>
        <p:nvSpPr>
          <p:cNvPr id="5" name="Shape 3"/>
          <p:cNvSpPr/>
          <p:nvPr/>
        </p:nvSpPr>
        <p:spPr>
          <a:xfrm>
            <a:off x="548640" y="2057400"/>
            <a:ext cx="3566160" cy="1463040"/>
          </a:xfrm>
          <a:prstGeom prst="roundRect">
            <a:avLst>
              <a:gd name="adj" fmla="val 5000"/>
            </a:avLst>
          </a:prstGeom>
          <a:solidFill>
            <a:srgbClr val="EDF1F7"/>
          </a:solidFill>
          <a:ln w="12700">
            <a:solidFill>
              <a:srgbClr val="EDF1F7"/>
            </a:solidFill>
            <a:prstDash val="solid"/>
          </a:ln>
        </p:spPr>
      </p:sp>
      <p:sp>
        <p:nvSpPr>
          <p:cNvPr id="6" name="Text 4"/>
          <p:cNvSpPr/>
          <p:nvPr/>
        </p:nvSpPr>
        <p:spPr>
          <a:xfrm>
            <a:off x="731520" y="217627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Spectrum encoder</a:t>
            </a:r>
            <a:endParaRPr lang="en-US" sz="1400" dirty="0"/>
          </a:p>
        </p:txBody>
      </p:sp>
      <p:sp>
        <p:nvSpPr>
          <p:cNvPr id="7" name="Text 5"/>
          <p:cNvSpPr/>
          <p:nvPr/>
        </p:nvSpPr>
        <p:spPr>
          <a:xfrm>
            <a:off x="731520" y="2478024"/>
            <a:ext cx="3200400" cy="9144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Model 1's backbone with one deliberate change: it pools into 8 coarse positional bins instead of one global value, so the network keeps track of where along the spectrum a feature sits.</a:t>
            </a:r>
            <a:endParaRPr lang="en-US" sz="1250" dirty="0"/>
          </a:p>
        </p:txBody>
      </p:sp>
      <p:sp>
        <p:nvSpPr>
          <p:cNvPr id="8" name="Shape 6"/>
          <p:cNvSpPr/>
          <p:nvPr/>
        </p:nvSpPr>
        <p:spPr>
          <a:xfrm>
            <a:off x="4315968" y="2057400"/>
            <a:ext cx="3566160" cy="1463040"/>
          </a:xfrm>
          <a:prstGeom prst="roundRect">
            <a:avLst>
              <a:gd name="adj" fmla="val 5000"/>
            </a:avLst>
          </a:prstGeom>
          <a:solidFill>
            <a:srgbClr val="FBF2DF"/>
          </a:solidFill>
          <a:ln w="12700">
            <a:solidFill>
              <a:srgbClr val="FBF2DF"/>
            </a:solidFill>
            <a:prstDash val="solid"/>
          </a:ln>
        </p:spPr>
      </p:sp>
      <p:sp>
        <p:nvSpPr>
          <p:cNvPr id="9" name="Text 7"/>
          <p:cNvSpPr/>
          <p:nvPr/>
        </p:nvSpPr>
        <p:spPr>
          <a:xfrm>
            <a:off x="4498848" y="217627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Why that change</a:t>
            </a:r>
            <a:endParaRPr lang="en-US" sz="1400" dirty="0"/>
          </a:p>
        </p:txBody>
      </p:sp>
      <p:sp>
        <p:nvSpPr>
          <p:cNvPr id="10" name="Text 8"/>
          <p:cNvSpPr/>
          <p:nvPr/>
        </p:nvSpPr>
        <p:spPr>
          <a:xfrm>
            <a:off x="4498848" y="2478024"/>
            <a:ext cx="3200400" cy="9144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An earlier version copied straight from Model 1 confused a blue-end feature with a red-end one 100% of the time. Global pooling discards position by design, and position is exactly what separates these classes.</a:t>
            </a:r>
            <a:endParaRPr lang="en-US" sz="1250" dirty="0"/>
          </a:p>
        </p:txBody>
      </p:sp>
      <p:sp>
        <p:nvSpPr>
          <p:cNvPr id="11" name="Shape 9"/>
          <p:cNvSpPr/>
          <p:nvPr/>
        </p:nvSpPr>
        <p:spPr>
          <a:xfrm>
            <a:off x="8074152" y="2057400"/>
            <a:ext cx="3566160" cy="1463040"/>
          </a:xfrm>
          <a:prstGeom prst="roundRect">
            <a:avLst>
              <a:gd name="adj" fmla="val 5000"/>
            </a:avLst>
          </a:prstGeom>
          <a:solidFill>
            <a:srgbClr val="EDF1F7"/>
          </a:solidFill>
          <a:ln w="12700">
            <a:solidFill>
              <a:srgbClr val="EDF1F7"/>
            </a:solidFill>
            <a:prstDash val="solid"/>
          </a:ln>
        </p:spPr>
      </p:sp>
      <p:sp>
        <p:nvSpPr>
          <p:cNvPr id="12" name="Text 10"/>
          <p:cNvSpPr/>
          <p:nvPr/>
        </p:nvSpPr>
        <p:spPr>
          <a:xfrm>
            <a:off x="8257032" y="217627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Text encoder</a:t>
            </a:r>
            <a:endParaRPr lang="en-US" sz="1400" dirty="0"/>
          </a:p>
        </p:txBody>
      </p:sp>
      <p:sp>
        <p:nvSpPr>
          <p:cNvPr id="13" name="Text 11"/>
          <p:cNvSpPr/>
          <p:nvPr/>
        </p:nvSpPr>
        <p:spPr>
          <a:xfrm>
            <a:off x="8257032" y="2478024"/>
            <a:ext cx="3200400" cy="9144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 TF-IDF vectoriser feeding a small MLP. Deliberately simple: a component that can be explained line by line, given the vocabulary is only a handful of short sentences.</a:t>
            </a:r>
            <a:endParaRPr lang="en-US" sz="1250" dirty="0"/>
          </a:p>
        </p:txBody>
      </p:sp>
      <p:sp>
        <p:nvSpPr>
          <p:cNvPr id="14" name="Shape 12"/>
          <p:cNvSpPr/>
          <p:nvPr/>
        </p:nvSpPr>
        <p:spPr>
          <a:xfrm>
            <a:off x="548640" y="3657600"/>
            <a:ext cx="3566160" cy="1463040"/>
          </a:xfrm>
          <a:prstGeom prst="roundRect">
            <a:avLst>
              <a:gd name="adj" fmla="val 5000"/>
            </a:avLst>
          </a:prstGeom>
          <a:solidFill>
            <a:srgbClr val="EDF1F7"/>
          </a:solidFill>
          <a:ln w="12700">
            <a:solidFill>
              <a:srgbClr val="EDF1F7"/>
            </a:solidFill>
            <a:prstDash val="solid"/>
          </a:ln>
        </p:spPr>
      </p:sp>
      <p:sp>
        <p:nvSpPr>
          <p:cNvPr id="15" name="Text 13"/>
          <p:cNvSpPr/>
          <p:nvPr/>
        </p:nvSpPr>
        <p:spPr>
          <a:xfrm>
            <a:off x="731520" y="377647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Training data</a:t>
            </a:r>
            <a:endParaRPr lang="en-US" sz="1400" dirty="0"/>
          </a:p>
        </p:txBody>
      </p:sp>
      <p:sp>
        <p:nvSpPr>
          <p:cNvPr id="16" name="Text 14"/>
          <p:cNvSpPr/>
          <p:nvPr/>
        </p:nvSpPr>
        <p:spPr>
          <a:xfrm>
            <a:off x="731520" y="4078224"/>
            <a:ext cx="3200400" cy="9144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90 real SDSS spectra, 30 each of STAR, GALAXY and QSO, de-redshifted to rest frame using each object's own pipeline redshift and resampled onto a fixed 2,048-point grid. 72/18 stratified split.</a:t>
            </a:r>
            <a:endParaRPr lang="en-US" sz="1250" dirty="0"/>
          </a:p>
        </p:txBody>
      </p:sp>
      <p:sp>
        <p:nvSpPr>
          <p:cNvPr id="17" name="Shape 15"/>
          <p:cNvSpPr/>
          <p:nvPr/>
        </p:nvSpPr>
        <p:spPr>
          <a:xfrm>
            <a:off x="4315968" y="3657600"/>
            <a:ext cx="3566160" cy="1463040"/>
          </a:xfrm>
          <a:prstGeom prst="roundRect">
            <a:avLst>
              <a:gd name="adj" fmla="val 5000"/>
            </a:avLst>
          </a:prstGeom>
          <a:solidFill>
            <a:srgbClr val="EDF1F7"/>
          </a:solidFill>
          <a:ln w="12700">
            <a:solidFill>
              <a:srgbClr val="EDF1F7"/>
            </a:solidFill>
            <a:prstDash val="solid"/>
          </a:ln>
        </p:spPr>
      </p:sp>
      <p:sp>
        <p:nvSpPr>
          <p:cNvPr id="18" name="Text 16"/>
          <p:cNvSpPr/>
          <p:nvPr/>
        </p:nvSpPr>
        <p:spPr>
          <a:xfrm>
            <a:off x="4498848" y="377647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Prediction</a:t>
            </a:r>
            <a:endParaRPr lang="en-US" sz="1400" dirty="0"/>
          </a:p>
        </p:txBody>
      </p:sp>
      <p:sp>
        <p:nvSpPr>
          <p:cNvPr id="19" name="Text 17"/>
          <p:cNvSpPr/>
          <p:nvPr/>
        </p:nvSpPr>
        <p:spPr>
          <a:xfrm>
            <a:off x="4498848" y="4078224"/>
            <a:ext cx="3200400" cy="9144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Embed the spectrum, embed each candidate class sentence, and pick the class whose sentence embedding is closest. No softmax over fixed classes anywhere.</a:t>
            </a:r>
            <a:endParaRPr lang="en-US" sz="1250" dirty="0"/>
          </a:p>
        </p:txBody>
      </p:sp>
      <p:sp>
        <p:nvSpPr>
          <p:cNvPr id="20" name="Shape 18"/>
          <p:cNvSpPr/>
          <p:nvPr/>
        </p:nvSpPr>
        <p:spPr>
          <a:xfrm>
            <a:off x="8074152" y="3657600"/>
            <a:ext cx="3566160" cy="1463040"/>
          </a:xfrm>
          <a:prstGeom prst="roundRect">
            <a:avLst>
              <a:gd name="adj" fmla="val 5000"/>
            </a:avLst>
          </a:prstGeom>
          <a:solidFill>
            <a:srgbClr val="FBF2DF"/>
          </a:solidFill>
          <a:ln w="12700">
            <a:solidFill>
              <a:srgbClr val="FBF2DF"/>
            </a:solidFill>
            <a:prstDash val="solid"/>
          </a:ln>
        </p:spPr>
      </p:sp>
      <p:sp>
        <p:nvSpPr>
          <p:cNvPr id="21" name="Text 19"/>
          <p:cNvSpPr/>
          <p:nvPr/>
        </p:nvSpPr>
        <p:spPr>
          <a:xfrm>
            <a:off x="8257032" y="377647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Evaluation metrics</a:t>
            </a:r>
            <a:endParaRPr lang="en-US" sz="1400" dirty="0"/>
          </a:p>
        </p:txBody>
      </p:sp>
      <p:sp>
        <p:nvSpPr>
          <p:cNvPr id="22" name="Text 20"/>
          <p:cNvSpPr/>
          <p:nvPr/>
        </p:nvSpPr>
        <p:spPr>
          <a:xfrm>
            <a:off x="8257032" y="4078224"/>
            <a:ext cx="3200400" cy="91440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Accuracy and a confusion matrix on the held-out SDSS test set, then zero-shot accuracy on the 9 FEROS exposures as stellar versus nebular.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2: How It Works</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MECHANISM, END TO END</a:t>
            </a:r>
            <a:endParaRPr lang="en-US" sz="1100" dirty="0"/>
          </a:p>
        </p:txBody>
      </p:sp>
      <p:sp>
        <p:nvSpPr>
          <p:cNvPr id="4" name="Shape 2"/>
          <p:cNvSpPr/>
          <p:nvPr/>
        </p:nvSpPr>
        <p:spPr>
          <a:xfrm>
            <a:off x="548640" y="1691640"/>
            <a:ext cx="1965960" cy="960120"/>
          </a:xfrm>
          <a:prstGeom prst="roundRect">
            <a:avLst>
              <a:gd name="adj" fmla="val 9524"/>
            </a:avLst>
          </a:prstGeom>
          <a:solidFill>
            <a:srgbClr val="1F3B63"/>
          </a:solidFill>
          <a:ln w="12700">
            <a:solidFill>
              <a:srgbClr val="1F3B63"/>
            </a:solidFill>
            <a:prstDash val="solid"/>
          </a:ln>
        </p:spPr>
      </p:sp>
      <p:sp>
        <p:nvSpPr>
          <p:cNvPr id="5" name="Text 3"/>
          <p:cNvSpPr/>
          <p:nvPr/>
        </p:nvSpPr>
        <p:spPr>
          <a:xfrm>
            <a:off x="621792" y="1783080"/>
            <a:ext cx="1819656" cy="460858"/>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Spectrum</a:t>
            </a:r>
            <a:endParaRPr lang="en-US" sz="1250" dirty="0"/>
          </a:p>
        </p:txBody>
      </p:sp>
      <p:sp>
        <p:nvSpPr>
          <p:cNvPr id="6" name="Text 4"/>
          <p:cNvSpPr/>
          <p:nvPr/>
        </p:nvSpPr>
        <p:spPr>
          <a:xfrm>
            <a:off x="621792" y="2171700"/>
            <a:ext cx="1819656" cy="432054"/>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SDSS or FEROS, rest frame</a:t>
            </a:r>
            <a:endParaRPr lang="en-US" sz="1000" dirty="0"/>
          </a:p>
        </p:txBody>
      </p:sp>
      <p:sp>
        <p:nvSpPr>
          <p:cNvPr id="7" name="Shape 5"/>
          <p:cNvSpPr/>
          <p:nvPr/>
        </p:nvSpPr>
        <p:spPr>
          <a:xfrm>
            <a:off x="2514600" y="2167128"/>
            <a:ext cx="457200" cy="0"/>
          </a:xfrm>
          <a:prstGeom prst="line">
            <a:avLst/>
          </a:prstGeom>
          <a:noFill/>
          <a:ln w="22225">
            <a:solidFill>
              <a:srgbClr val="3A5F8F"/>
            </a:solidFill>
            <a:prstDash val="solid"/>
            <a:tailEnd type="triangle"/>
          </a:ln>
        </p:spPr>
      </p:sp>
      <p:sp>
        <p:nvSpPr>
          <p:cNvPr id="8" name="Shape 6"/>
          <p:cNvSpPr/>
          <p:nvPr/>
        </p:nvSpPr>
        <p:spPr>
          <a:xfrm>
            <a:off x="3017520" y="1691640"/>
            <a:ext cx="1965960" cy="960120"/>
          </a:xfrm>
          <a:prstGeom prst="roundRect">
            <a:avLst>
              <a:gd name="adj" fmla="val 9524"/>
            </a:avLst>
          </a:prstGeom>
          <a:solidFill>
            <a:srgbClr val="EDF1F7"/>
          </a:solidFill>
          <a:ln w="12700">
            <a:solidFill>
              <a:srgbClr val="3A5F8F"/>
            </a:solidFill>
            <a:prstDash val="solid"/>
          </a:ln>
        </p:spPr>
      </p:sp>
      <p:sp>
        <p:nvSpPr>
          <p:cNvPr id="9" name="Text 7"/>
          <p:cNvSpPr/>
          <p:nvPr/>
        </p:nvSpPr>
        <p:spPr>
          <a:xfrm>
            <a:off x="3090672" y="1783080"/>
            <a:ext cx="1819656" cy="460858"/>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1D CNN</a:t>
            </a:r>
            <a:endParaRPr lang="en-US" sz="1250" dirty="0"/>
          </a:p>
        </p:txBody>
      </p:sp>
      <p:sp>
        <p:nvSpPr>
          <p:cNvPr id="10" name="Text 8"/>
          <p:cNvSpPr/>
          <p:nvPr/>
        </p:nvSpPr>
        <p:spPr>
          <a:xfrm>
            <a:off x="3090672" y="2171700"/>
            <a:ext cx="1819656" cy="432054"/>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pooled to 8 positional bins</a:t>
            </a:r>
            <a:endParaRPr lang="en-US" sz="1000" dirty="0"/>
          </a:p>
        </p:txBody>
      </p:sp>
      <p:sp>
        <p:nvSpPr>
          <p:cNvPr id="11" name="Shape 9"/>
          <p:cNvSpPr/>
          <p:nvPr/>
        </p:nvSpPr>
        <p:spPr>
          <a:xfrm>
            <a:off x="4983480" y="2167128"/>
            <a:ext cx="457200" cy="0"/>
          </a:xfrm>
          <a:prstGeom prst="line">
            <a:avLst/>
          </a:prstGeom>
          <a:noFill/>
          <a:ln w="22225">
            <a:solidFill>
              <a:srgbClr val="3A5F8F"/>
            </a:solidFill>
            <a:prstDash val="solid"/>
            <a:tailEnd type="triangle"/>
          </a:ln>
        </p:spPr>
      </p:sp>
      <p:sp>
        <p:nvSpPr>
          <p:cNvPr id="12" name="Shape 10"/>
          <p:cNvSpPr/>
          <p:nvPr/>
        </p:nvSpPr>
        <p:spPr>
          <a:xfrm>
            <a:off x="5486400" y="1691640"/>
            <a:ext cx="1691640" cy="960120"/>
          </a:xfrm>
          <a:prstGeom prst="roundRect">
            <a:avLst>
              <a:gd name="adj" fmla="val 9524"/>
            </a:avLst>
          </a:prstGeom>
          <a:solidFill>
            <a:srgbClr val="EDF1F7"/>
          </a:solidFill>
          <a:ln w="12700">
            <a:solidFill>
              <a:srgbClr val="3A5F8F"/>
            </a:solidFill>
            <a:prstDash val="solid"/>
          </a:ln>
        </p:spPr>
      </p:sp>
      <p:sp>
        <p:nvSpPr>
          <p:cNvPr id="13" name="Text 11"/>
          <p:cNvSpPr/>
          <p:nvPr/>
        </p:nvSpPr>
        <p:spPr>
          <a:xfrm>
            <a:off x="5559552" y="1783080"/>
            <a:ext cx="1545336" cy="460858"/>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Projection</a:t>
            </a:r>
            <a:endParaRPr lang="en-US" sz="1250" dirty="0"/>
          </a:p>
        </p:txBody>
      </p:sp>
      <p:sp>
        <p:nvSpPr>
          <p:cNvPr id="14" name="Text 12"/>
          <p:cNvSpPr/>
          <p:nvPr/>
        </p:nvSpPr>
        <p:spPr>
          <a:xfrm>
            <a:off x="5559552" y="2171700"/>
            <a:ext cx="1545336" cy="432054"/>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 32-d, L2-norm</a:t>
            </a:r>
            <a:endParaRPr lang="en-US" sz="1000" dirty="0"/>
          </a:p>
        </p:txBody>
      </p:sp>
      <p:sp>
        <p:nvSpPr>
          <p:cNvPr id="15" name="Shape 13"/>
          <p:cNvSpPr/>
          <p:nvPr/>
        </p:nvSpPr>
        <p:spPr>
          <a:xfrm>
            <a:off x="548640" y="2971800"/>
            <a:ext cx="1965960" cy="960120"/>
          </a:xfrm>
          <a:prstGeom prst="roundRect">
            <a:avLst>
              <a:gd name="adj" fmla="val 9524"/>
            </a:avLst>
          </a:prstGeom>
          <a:solidFill>
            <a:srgbClr val="1F3B63"/>
          </a:solidFill>
          <a:ln w="12700">
            <a:solidFill>
              <a:srgbClr val="1F3B63"/>
            </a:solidFill>
            <a:prstDash val="solid"/>
          </a:ln>
        </p:spPr>
      </p:sp>
      <p:sp>
        <p:nvSpPr>
          <p:cNvPr id="16" name="Text 14"/>
          <p:cNvSpPr/>
          <p:nvPr/>
        </p:nvSpPr>
        <p:spPr>
          <a:xfrm>
            <a:off x="621792" y="3063240"/>
            <a:ext cx="1819656" cy="460858"/>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Class prompt</a:t>
            </a:r>
            <a:endParaRPr lang="en-US" sz="1250" dirty="0"/>
          </a:p>
        </p:txBody>
      </p:sp>
      <p:sp>
        <p:nvSpPr>
          <p:cNvPr id="17" name="Text 15"/>
          <p:cNvSpPr/>
          <p:nvPr/>
        </p:nvSpPr>
        <p:spPr>
          <a:xfrm>
            <a:off x="621792" y="3451860"/>
            <a:ext cx="1819656" cy="432054"/>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“an optical spectrum of a star …”</a:t>
            </a:r>
            <a:endParaRPr lang="en-US" sz="1000" dirty="0"/>
          </a:p>
        </p:txBody>
      </p:sp>
      <p:sp>
        <p:nvSpPr>
          <p:cNvPr id="18" name="Shape 16"/>
          <p:cNvSpPr/>
          <p:nvPr/>
        </p:nvSpPr>
        <p:spPr>
          <a:xfrm>
            <a:off x="2514600" y="3447288"/>
            <a:ext cx="457200" cy="0"/>
          </a:xfrm>
          <a:prstGeom prst="line">
            <a:avLst/>
          </a:prstGeom>
          <a:noFill/>
          <a:ln w="22225">
            <a:solidFill>
              <a:srgbClr val="3A5F8F"/>
            </a:solidFill>
            <a:prstDash val="solid"/>
            <a:tailEnd type="triangle"/>
          </a:ln>
        </p:spPr>
      </p:sp>
      <p:sp>
        <p:nvSpPr>
          <p:cNvPr id="19" name="Shape 17"/>
          <p:cNvSpPr/>
          <p:nvPr/>
        </p:nvSpPr>
        <p:spPr>
          <a:xfrm>
            <a:off x="3017520" y="2971800"/>
            <a:ext cx="1965960" cy="960120"/>
          </a:xfrm>
          <a:prstGeom prst="roundRect">
            <a:avLst>
              <a:gd name="adj" fmla="val 9524"/>
            </a:avLst>
          </a:prstGeom>
          <a:solidFill>
            <a:srgbClr val="EDF1F7"/>
          </a:solidFill>
          <a:ln w="12700">
            <a:solidFill>
              <a:srgbClr val="3A5F8F"/>
            </a:solidFill>
            <a:prstDash val="solid"/>
          </a:ln>
        </p:spPr>
      </p:sp>
      <p:sp>
        <p:nvSpPr>
          <p:cNvPr id="20" name="Text 18"/>
          <p:cNvSpPr/>
          <p:nvPr/>
        </p:nvSpPr>
        <p:spPr>
          <a:xfrm>
            <a:off x="3090672" y="3063240"/>
            <a:ext cx="1819656" cy="460858"/>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TF-IDF + MLP</a:t>
            </a:r>
            <a:endParaRPr lang="en-US" sz="1250" dirty="0"/>
          </a:p>
        </p:txBody>
      </p:sp>
      <p:sp>
        <p:nvSpPr>
          <p:cNvPr id="21" name="Text 19"/>
          <p:cNvSpPr/>
          <p:nvPr/>
        </p:nvSpPr>
        <p:spPr>
          <a:xfrm>
            <a:off x="3090672" y="3451860"/>
            <a:ext cx="1819656" cy="432054"/>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text encoder</a:t>
            </a:r>
            <a:endParaRPr lang="en-US" sz="1000" dirty="0"/>
          </a:p>
        </p:txBody>
      </p:sp>
      <p:sp>
        <p:nvSpPr>
          <p:cNvPr id="22" name="Shape 20"/>
          <p:cNvSpPr/>
          <p:nvPr/>
        </p:nvSpPr>
        <p:spPr>
          <a:xfrm>
            <a:off x="4983480" y="3447288"/>
            <a:ext cx="457200" cy="0"/>
          </a:xfrm>
          <a:prstGeom prst="line">
            <a:avLst/>
          </a:prstGeom>
          <a:noFill/>
          <a:ln w="22225">
            <a:solidFill>
              <a:srgbClr val="3A5F8F"/>
            </a:solidFill>
            <a:prstDash val="solid"/>
            <a:tailEnd type="triangle"/>
          </a:ln>
        </p:spPr>
      </p:sp>
      <p:sp>
        <p:nvSpPr>
          <p:cNvPr id="23" name="Shape 21"/>
          <p:cNvSpPr/>
          <p:nvPr/>
        </p:nvSpPr>
        <p:spPr>
          <a:xfrm>
            <a:off x="5486400" y="2971800"/>
            <a:ext cx="1691640" cy="960120"/>
          </a:xfrm>
          <a:prstGeom prst="roundRect">
            <a:avLst>
              <a:gd name="adj" fmla="val 9524"/>
            </a:avLst>
          </a:prstGeom>
          <a:solidFill>
            <a:srgbClr val="EDF1F7"/>
          </a:solidFill>
          <a:ln w="12700">
            <a:solidFill>
              <a:srgbClr val="3A5F8F"/>
            </a:solidFill>
            <a:prstDash val="solid"/>
          </a:ln>
        </p:spPr>
      </p:sp>
      <p:sp>
        <p:nvSpPr>
          <p:cNvPr id="24" name="Text 22"/>
          <p:cNvSpPr/>
          <p:nvPr/>
        </p:nvSpPr>
        <p:spPr>
          <a:xfrm>
            <a:off x="5559552" y="3063240"/>
            <a:ext cx="1545336" cy="460858"/>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Projection</a:t>
            </a:r>
            <a:endParaRPr lang="en-US" sz="1250" dirty="0"/>
          </a:p>
        </p:txBody>
      </p:sp>
      <p:sp>
        <p:nvSpPr>
          <p:cNvPr id="25" name="Text 23"/>
          <p:cNvSpPr/>
          <p:nvPr/>
        </p:nvSpPr>
        <p:spPr>
          <a:xfrm>
            <a:off x="5559552" y="3451860"/>
            <a:ext cx="1545336" cy="432054"/>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 32-d, L2-norm</a:t>
            </a:r>
            <a:endParaRPr lang="en-US" sz="1000" dirty="0"/>
          </a:p>
        </p:txBody>
      </p:sp>
      <p:sp>
        <p:nvSpPr>
          <p:cNvPr id="26" name="Shape 24"/>
          <p:cNvSpPr/>
          <p:nvPr/>
        </p:nvSpPr>
        <p:spPr>
          <a:xfrm>
            <a:off x="7178040" y="2167128"/>
            <a:ext cx="685800" cy="621792"/>
          </a:xfrm>
          <a:prstGeom prst="line">
            <a:avLst/>
          </a:prstGeom>
          <a:noFill/>
          <a:ln w="22225">
            <a:solidFill>
              <a:srgbClr val="3A5F8F"/>
            </a:solidFill>
            <a:prstDash val="solid"/>
            <a:tailEnd type="triangle"/>
          </a:ln>
        </p:spPr>
      </p:sp>
      <p:sp>
        <p:nvSpPr>
          <p:cNvPr id="27" name="Shape 25"/>
          <p:cNvSpPr/>
          <p:nvPr/>
        </p:nvSpPr>
        <p:spPr>
          <a:xfrm>
            <a:off x="7178040" y="3447288"/>
            <a:ext cx="685800" cy="0"/>
          </a:xfrm>
          <a:prstGeom prst="line">
            <a:avLst/>
          </a:prstGeom>
          <a:noFill/>
          <a:ln w="22225">
            <a:solidFill>
              <a:srgbClr val="3A5F8F"/>
            </a:solidFill>
            <a:prstDash val="solid"/>
            <a:tailEnd type="triangle"/>
          </a:ln>
        </p:spPr>
      </p:sp>
      <p:sp>
        <p:nvSpPr>
          <p:cNvPr id="28" name="Shape 26"/>
          <p:cNvSpPr/>
          <p:nvPr/>
        </p:nvSpPr>
        <p:spPr>
          <a:xfrm>
            <a:off x="7909560" y="2011680"/>
            <a:ext cx="1828800" cy="1508760"/>
          </a:xfrm>
          <a:prstGeom prst="roundRect">
            <a:avLst>
              <a:gd name="adj" fmla="val 6061"/>
            </a:avLst>
          </a:prstGeom>
          <a:solidFill>
            <a:srgbClr val="FBF2DF"/>
          </a:solidFill>
          <a:ln w="12700">
            <a:solidFill>
              <a:srgbClr val="E8A61E"/>
            </a:solidFill>
            <a:prstDash val="solid"/>
          </a:ln>
        </p:spPr>
      </p:sp>
      <p:sp>
        <p:nvSpPr>
          <p:cNvPr id="29" name="Text 27"/>
          <p:cNvSpPr/>
          <p:nvPr/>
        </p:nvSpPr>
        <p:spPr>
          <a:xfrm>
            <a:off x="7982712" y="2103120"/>
            <a:ext cx="1682496" cy="724205"/>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Cosine similarity</a:t>
            </a:r>
            <a:endParaRPr lang="en-US" sz="1250" dirty="0"/>
          </a:p>
        </p:txBody>
      </p:sp>
      <p:sp>
        <p:nvSpPr>
          <p:cNvPr id="30" name="Text 28"/>
          <p:cNvSpPr/>
          <p:nvPr/>
        </p:nvSpPr>
        <p:spPr>
          <a:xfrm>
            <a:off x="7982712" y="2766060"/>
            <a:ext cx="1682496" cy="678942"/>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spectrum vs every class sentence</a:t>
            </a:r>
            <a:endParaRPr lang="en-US" sz="1000" dirty="0"/>
          </a:p>
        </p:txBody>
      </p:sp>
      <p:sp>
        <p:nvSpPr>
          <p:cNvPr id="31" name="Shape 29"/>
          <p:cNvSpPr/>
          <p:nvPr/>
        </p:nvSpPr>
        <p:spPr>
          <a:xfrm>
            <a:off x="9738360" y="2743200"/>
            <a:ext cx="457200" cy="0"/>
          </a:xfrm>
          <a:prstGeom prst="line">
            <a:avLst/>
          </a:prstGeom>
          <a:noFill/>
          <a:ln w="22225">
            <a:solidFill>
              <a:srgbClr val="3A5F8F"/>
            </a:solidFill>
            <a:prstDash val="solid"/>
            <a:tailEnd type="triangle"/>
          </a:ln>
        </p:spPr>
      </p:sp>
      <p:sp>
        <p:nvSpPr>
          <p:cNvPr id="32" name="Shape 30"/>
          <p:cNvSpPr/>
          <p:nvPr/>
        </p:nvSpPr>
        <p:spPr>
          <a:xfrm>
            <a:off x="10241280" y="2148840"/>
            <a:ext cx="1399032" cy="1234440"/>
          </a:xfrm>
          <a:prstGeom prst="roundRect">
            <a:avLst>
              <a:gd name="adj" fmla="val 7407"/>
            </a:avLst>
          </a:prstGeom>
          <a:solidFill>
            <a:srgbClr val="EDF1F7"/>
          </a:solidFill>
          <a:ln w="12700">
            <a:solidFill>
              <a:srgbClr val="3A5F8F"/>
            </a:solidFill>
            <a:prstDash val="solid"/>
          </a:ln>
        </p:spPr>
      </p:sp>
      <p:sp>
        <p:nvSpPr>
          <p:cNvPr id="33" name="Text 31"/>
          <p:cNvSpPr/>
          <p:nvPr/>
        </p:nvSpPr>
        <p:spPr>
          <a:xfrm>
            <a:off x="10314432" y="2240280"/>
            <a:ext cx="1252728" cy="592531"/>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argmax</a:t>
            </a:r>
            <a:endParaRPr lang="en-US" sz="1250" dirty="0"/>
          </a:p>
        </p:txBody>
      </p:sp>
      <p:sp>
        <p:nvSpPr>
          <p:cNvPr id="34" name="Text 32"/>
          <p:cNvSpPr/>
          <p:nvPr/>
        </p:nvSpPr>
        <p:spPr>
          <a:xfrm>
            <a:off x="10314432" y="2766060"/>
            <a:ext cx="1252728" cy="555498"/>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predicted class</a:t>
            </a:r>
            <a:endParaRPr lang="en-US" sz="1000" dirty="0"/>
          </a:p>
        </p:txBody>
      </p:sp>
      <p:sp>
        <p:nvSpPr>
          <p:cNvPr id="35" name="Shape 33"/>
          <p:cNvSpPr/>
          <p:nvPr/>
        </p:nvSpPr>
        <p:spPr>
          <a:xfrm>
            <a:off x="548640" y="4343400"/>
            <a:ext cx="5486400" cy="1005840"/>
          </a:xfrm>
          <a:prstGeom prst="roundRect">
            <a:avLst>
              <a:gd name="adj" fmla="val 7273"/>
            </a:avLst>
          </a:prstGeom>
          <a:solidFill>
            <a:srgbClr val="EDF1F7"/>
          </a:solidFill>
          <a:ln w="12700">
            <a:solidFill>
              <a:srgbClr val="EDF1F7"/>
            </a:solidFill>
            <a:prstDash val="solid"/>
          </a:ln>
        </p:spPr>
      </p:sp>
      <p:sp>
        <p:nvSpPr>
          <p:cNvPr id="36" name="Text 34"/>
          <p:cNvSpPr/>
          <p:nvPr/>
        </p:nvSpPr>
        <p:spPr>
          <a:xfrm>
            <a:off x="731520" y="4462272"/>
            <a:ext cx="5120640" cy="274320"/>
          </a:xfrm>
          <a:prstGeom prst="rect">
            <a:avLst/>
          </a:prstGeom>
          <a:noFill/>
          <a:ln/>
        </p:spPr>
        <p:txBody>
          <a:bodyPr wrap="square" lIns="0" tIns="0" rIns="0" bIns="0" rtlCol="0" anchor="ctr"/>
          <a:lstStyle/>
          <a:p>
            <a:pPr marL="0" indent="0">
              <a:buNone/>
            </a:pPr>
            <a:r>
              <a:rPr lang="en-US" sz="1300" b="1" dirty="0">
                <a:solidFill>
                  <a:srgbClr val="1F3B63"/>
                </a:solidFill>
                <a:latin typeface="Calibri" pitchFamily="34" charset="0"/>
                <a:ea typeface="Calibri" pitchFamily="34" charset="-122"/>
                <a:cs typeface="Calibri" pitchFamily="34" charset="-120"/>
              </a:rPr>
              <a:t>Training signal</a:t>
            </a:r>
            <a:endParaRPr lang="en-US" sz="1300" dirty="0"/>
          </a:p>
        </p:txBody>
      </p:sp>
      <p:sp>
        <p:nvSpPr>
          <p:cNvPr id="37" name="Text 35"/>
          <p:cNvSpPr/>
          <p:nvPr/>
        </p:nvSpPr>
        <p:spPr>
          <a:xfrm>
            <a:off x="731520" y="4764024"/>
            <a:ext cx="5120640" cy="457200"/>
          </a:xfrm>
          <a:prstGeom prst="rect">
            <a:avLst/>
          </a:prstGeom>
          <a:noFill/>
          <a:ln/>
        </p:spPr>
        <p:txBody>
          <a:bodyPr wrap="square" lIns="0" tIns="0" rIns="0" bIns="0" rtlCol="0" anchor="t"/>
          <a:lstStyle/>
          <a:p>
            <a:pPr marL="0" indent="0">
              <a:lnSpc>
                <a:spcPts val="1500"/>
              </a:lnSpc>
              <a:buNone/>
            </a:pPr>
            <a:r>
              <a:rPr lang="en-US" sz="1200" dirty="0">
                <a:solidFill>
                  <a:srgbClr val="202020"/>
                </a:solidFill>
                <a:latin typeface="Calibri" pitchFamily="34" charset="0"/>
                <a:ea typeface="Calibri" pitchFamily="34" charset="-122"/>
                <a:cs typeface="Calibri" pitchFamily="34" charset="-120"/>
              </a:rPr>
              <a:t>A K-way cross-entropy against the fixed set of class-sentence embeddings, recomputed every step because the text encoder is trainable.</a:t>
            </a:r>
            <a:endParaRPr lang="en-US" sz="1200" dirty="0"/>
          </a:p>
        </p:txBody>
      </p:sp>
      <p:sp>
        <p:nvSpPr>
          <p:cNvPr id="38" name="Shape 36"/>
          <p:cNvSpPr/>
          <p:nvPr/>
        </p:nvSpPr>
        <p:spPr>
          <a:xfrm>
            <a:off x="6153912" y="4343400"/>
            <a:ext cx="5486400" cy="1005840"/>
          </a:xfrm>
          <a:prstGeom prst="roundRect">
            <a:avLst>
              <a:gd name="adj" fmla="val 7273"/>
            </a:avLst>
          </a:prstGeom>
          <a:solidFill>
            <a:srgbClr val="FBF2DF"/>
          </a:solidFill>
          <a:ln w="12700">
            <a:solidFill>
              <a:srgbClr val="FBF2DF"/>
            </a:solidFill>
            <a:prstDash val="solid"/>
          </a:ln>
        </p:spPr>
      </p:sp>
      <p:sp>
        <p:nvSpPr>
          <p:cNvPr id="39" name="Text 37"/>
          <p:cNvSpPr/>
          <p:nvPr/>
        </p:nvSpPr>
        <p:spPr>
          <a:xfrm>
            <a:off x="6336792" y="4462272"/>
            <a:ext cx="5120640" cy="274320"/>
          </a:xfrm>
          <a:prstGeom prst="rect">
            <a:avLst/>
          </a:prstGeom>
          <a:noFill/>
          <a:ln/>
        </p:spPr>
        <p:txBody>
          <a:bodyPr wrap="square" lIns="0" tIns="0" rIns="0" bIns="0" rtlCol="0" anchor="ctr"/>
          <a:lstStyle/>
          <a:p>
            <a:pPr marL="0" indent="0">
              <a:buNone/>
            </a:pPr>
            <a:r>
              <a:rPr lang="en-US" sz="1300" b="1" dirty="0">
                <a:solidFill>
                  <a:srgbClr val="1F3B63"/>
                </a:solidFill>
                <a:latin typeface="Calibri" pitchFamily="34" charset="0"/>
                <a:ea typeface="Calibri" pitchFamily="34" charset="-122"/>
                <a:cs typeface="Calibri" pitchFamily="34" charset="-120"/>
              </a:rPr>
              <a:t>The weak link, in advance</a:t>
            </a:r>
            <a:endParaRPr lang="en-US" sz="1300" dirty="0"/>
          </a:p>
        </p:txBody>
      </p:sp>
      <p:sp>
        <p:nvSpPr>
          <p:cNvPr id="40" name="Text 38"/>
          <p:cNvSpPr/>
          <p:nvPr/>
        </p:nvSpPr>
        <p:spPr>
          <a:xfrm>
            <a:off x="6336792" y="4764024"/>
            <a:ext cx="5120640" cy="457200"/>
          </a:xfrm>
          <a:prstGeom prst="rect">
            <a:avLst/>
          </a:prstGeom>
          <a:noFill/>
          <a:ln/>
        </p:spPr>
        <p:txBody>
          <a:bodyPr wrap="square" lIns="0" tIns="0" rIns="0" bIns="0" rtlCol="0" anchor="t"/>
          <a:lstStyle/>
          <a:p>
            <a:pPr marL="0" indent="0">
              <a:lnSpc>
                <a:spcPts val="1500"/>
              </a:lnSpc>
              <a:buNone/>
            </a:pPr>
            <a:r>
              <a:rPr lang="en-US" sz="1200" dirty="0">
                <a:solidFill>
                  <a:srgbClr val="202020"/>
                </a:solidFill>
                <a:latin typeface="Calibri" pitchFamily="34" charset="0"/>
                <a:ea typeface="Calibri" pitchFamily="34" charset="-122"/>
                <a:cs typeface="Calibri" pitchFamily="34" charset="-120"/>
              </a:rPr>
              <a:t>Only words that appear in the training sentences ever receive gradient. Any word the model has not been trained on stays at its random starting value.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2: 0.889 on SDSS, 0.000 on FEROS</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 5 — THE FAILURE, DIAGNOSED</a:t>
            </a:r>
            <a:endParaRPr lang="en-US" sz="1100" dirty="0"/>
          </a:p>
        </p:txBody>
      </p:sp>
      <p:pic>
        <p:nvPicPr>
          <p:cNvPr id="4" name="Image 0" descr="figs/fig-004.png"/>
          <p:cNvPicPr>
            <a:picLocks noChangeAspect="1"/>
          </p:cNvPicPr>
          <p:nvPr/>
        </p:nvPicPr>
        <p:blipFill>
          <a:blip r:embed="rId3"/>
          <a:stretch>
            <a:fillRect/>
          </a:stretch>
        </p:blipFill>
        <p:spPr>
          <a:xfrm>
            <a:off x="685800" y="1463040"/>
            <a:ext cx="3977640" cy="3383280"/>
          </a:xfrm>
          <a:prstGeom prst="rect">
            <a:avLst/>
          </a:prstGeom>
        </p:spPr>
      </p:pic>
      <p:sp>
        <p:nvSpPr>
          <p:cNvPr id="5" name="Text 2"/>
          <p:cNvSpPr/>
          <p:nvPr/>
        </p:nvSpPr>
        <p:spPr>
          <a:xfrm>
            <a:off x="685800" y="4919472"/>
            <a:ext cx="3977640" cy="457200"/>
          </a:xfrm>
          <a:prstGeom prst="rect">
            <a:avLst/>
          </a:prstGeom>
          <a:noFill/>
          <a:ln/>
        </p:spPr>
        <p:txBody>
          <a:bodyPr wrap="square" lIns="0" tIns="0" rIns="0" bIns="0" rtlCol="0" anchor="t"/>
          <a:lstStyle/>
          <a:p>
            <a:pPr marL="0" indent="0">
              <a:lnSpc>
                <a:spcPts val="1300"/>
              </a:lnSpc>
              <a:buNone/>
            </a:pPr>
            <a:r>
              <a:rPr lang="en-US" sz="1050" i="1" dirty="0">
                <a:solidFill>
                  <a:srgbClr val="5B6675"/>
                </a:solidFill>
                <a:latin typeface="Calibri" pitchFamily="34" charset="0"/>
                <a:ea typeface="Calibri" pitchFamily="34" charset="-122"/>
                <a:cs typeface="Calibri" pitchFamily="34" charset="-120"/>
              </a:rPr>
              <a:t>SDSS test set. Every error is a GALAXY called STAR, none in the other direction, and no QSO confusion at all.</a:t>
            </a:r>
            <a:endParaRPr lang="en-US" sz="1050" dirty="0"/>
          </a:p>
        </p:txBody>
      </p:sp>
      <p:sp>
        <p:nvSpPr>
          <p:cNvPr id="6" name="Text 3"/>
          <p:cNvSpPr/>
          <p:nvPr/>
        </p:nvSpPr>
        <p:spPr>
          <a:xfrm>
            <a:off x="5029200" y="1463040"/>
            <a:ext cx="6629400" cy="960120"/>
          </a:xfrm>
          <a:prstGeom prst="rect">
            <a:avLst/>
          </a:prstGeom>
          <a:noFill/>
          <a:ln/>
        </p:spPr>
        <p:txBody>
          <a:bodyPr wrap="square" lIns="0" tIns="0" rIns="0" bIns="0" rtlCol="0" anchor="ctr"/>
          <a:lstStyle/>
          <a:p>
            <a:pPr marL="0" indent="0">
              <a:lnSpc>
                <a:spcPts val="1700"/>
              </a:lnSpc>
              <a:buNone/>
            </a:pPr>
            <a:r>
              <a:rPr lang="en-US" sz="1300" b="1" dirty="0">
                <a:solidFill>
                  <a:srgbClr val="1F3B63"/>
                </a:solidFill>
                <a:latin typeface="Calibri" pitchFamily="34" charset="0"/>
                <a:ea typeface="Calibri" pitchFamily="34" charset="-122"/>
                <a:cs typeface="Calibri" pitchFamily="34" charset="-120"/>
              </a:rPr>
              <a:t>SDSS: 0.889.</a:t>
            </a:r>
            <a:r>
              <a:rPr lang="en-US" sz="1300" dirty="0">
                <a:solidFill>
                  <a:srgbClr val="202020"/>
                </a:solidFill>
                <a:latin typeface="Calibri" pitchFamily="34" charset="0"/>
                <a:ea typeface="Calibri" pitchFamily="34" charset="-122"/>
                <a:cs typeface="Calibri" pitchFamily="34" charset="-120"/>
              </a:rPr>
              <a:t>  STAR 6/6 and QSO 6/6, with only 2 of 6 GALAXY spectra called STAR. That is a physically sensible confusion: a galaxy spectrum is a stellar continuum plus narrow emission lines, and at low emission-line contribution it can resemble a pure star.</a:t>
            </a:r>
            <a:endParaRPr lang="en-US" sz="1300" dirty="0"/>
          </a:p>
        </p:txBody>
      </p:sp>
      <p:sp>
        <p:nvSpPr>
          <p:cNvPr id="7" name="Text 4"/>
          <p:cNvSpPr/>
          <p:nvPr/>
        </p:nvSpPr>
        <p:spPr>
          <a:xfrm>
            <a:off x="5029200" y="2560320"/>
            <a:ext cx="6629400" cy="1051560"/>
          </a:xfrm>
          <a:prstGeom prst="rect">
            <a:avLst/>
          </a:prstGeom>
          <a:noFill/>
          <a:ln/>
        </p:spPr>
        <p:txBody>
          <a:bodyPr wrap="square" lIns="0" tIns="0" rIns="0" bIns="0" rtlCol="0" anchor="ctr"/>
          <a:lstStyle/>
          <a:p>
            <a:pPr marL="0" indent="0">
              <a:lnSpc>
                <a:spcPts val="1700"/>
              </a:lnSpc>
              <a:buNone/>
            </a:pPr>
            <a:r>
              <a:rPr lang="en-US" sz="1300" b="1" dirty="0">
                <a:solidFill>
                  <a:srgbClr val="1F3B63"/>
                </a:solidFill>
                <a:latin typeface="Calibri" pitchFamily="34" charset="0"/>
                <a:ea typeface="Calibri" pitchFamily="34" charset="-122"/>
                <a:cs typeface="Calibri" pitchFamily="34" charset="-120"/>
              </a:rPr>
              <a:t>FEROS: 0.000, but inverted, not random.</a:t>
            </a:r>
            <a:endParaRPr lang="en-US" sz="1300" dirty="0"/>
          </a:p>
          <a:p>
            <a:pPr marL="0" indent="0">
              <a:lnSpc>
                <a:spcPts val="1700"/>
              </a:lnSpc>
              <a:buNone/>
            </a:pPr>
            <a:r>
              <a:rPr lang="en-US" sz="1300" dirty="0">
                <a:solidFill>
                  <a:srgbClr val="202020"/>
                </a:solidFill>
                <a:latin typeface="Calibri" pitchFamily="34" charset="0"/>
                <a:ea typeface="Calibri" pitchFamily="34" charset="-122"/>
                <a:cs typeface="Calibri" pitchFamily="34" charset="-120"/>
              </a:rPr>
              <a:t>Every true stellar spectrum scored positive on both class similarities and every true nebular spectrum scored negative on both. The spectrum encoder separated the two physical classes cleanly. Only the label assignment was backwards.</a:t>
            </a:r>
            <a:endParaRPr lang="en-US" sz="1300" dirty="0"/>
          </a:p>
        </p:txBody>
      </p:sp>
      <p:sp>
        <p:nvSpPr>
          <p:cNvPr id="8" name="Shape 5"/>
          <p:cNvSpPr/>
          <p:nvPr/>
        </p:nvSpPr>
        <p:spPr>
          <a:xfrm>
            <a:off x="5029200" y="3703320"/>
            <a:ext cx="6629400" cy="1371600"/>
          </a:xfrm>
          <a:prstGeom prst="roundRect">
            <a:avLst>
              <a:gd name="adj" fmla="val 5333"/>
            </a:avLst>
          </a:prstGeom>
          <a:solidFill>
            <a:srgbClr val="FBF2DF"/>
          </a:solidFill>
          <a:ln w="12700">
            <a:solidFill>
              <a:srgbClr val="FBF2DF"/>
            </a:solidFill>
            <a:prstDash val="solid"/>
          </a:ln>
        </p:spPr>
      </p:sp>
      <p:sp>
        <p:nvSpPr>
          <p:cNvPr id="9" name="Text 6"/>
          <p:cNvSpPr/>
          <p:nvPr/>
        </p:nvSpPr>
        <p:spPr>
          <a:xfrm>
            <a:off x="5212080" y="3822192"/>
            <a:ext cx="626364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Why the accuracy is exactly zero</a:t>
            </a:r>
            <a:endParaRPr lang="en-US" sz="1400" dirty="0"/>
          </a:p>
        </p:txBody>
      </p:sp>
      <p:sp>
        <p:nvSpPr>
          <p:cNvPr id="10" name="Text 7"/>
          <p:cNvSpPr/>
          <p:nvPr/>
        </p:nvSpPr>
        <p:spPr>
          <a:xfrm>
            <a:off x="5212080" y="4123944"/>
            <a:ext cx="6263640" cy="822960"/>
          </a:xfrm>
          <a:prstGeom prst="rect">
            <a:avLst/>
          </a:prstGeom>
          <a:noFill/>
          <a:ln/>
        </p:spPr>
        <p:txBody>
          <a:bodyPr wrap="square" lIns="0" tIns="0" rIns="0" bIns="0" rtlCol="0" anchor="t"/>
          <a:lstStyle/>
          <a:p>
            <a:pPr marL="0" indent="0">
              <a:lnSpc>
                <a:spcPts val="1563"/>
              </a:lnSpc>
              <a:buNone/>
            </a:pPr>
            <a:r>
              <a:rPr lang="en-US" sz="1250" dirty="0">
                <a:solidFill>
                  <a:srgbClr val="202020"/>
                </a:solidFill>
                <a:latin typeface="Calibri" pitchFamily="34" charset="0"/>
                <a:ea typeface="Calibri" pitchFamily="34" charset="-122"/>
                <a:cs typeface="Calibri" pitchFamily="34" charset="-120"/>
              </a:rPr>
              <a:t>The text MLP only ever received gradient for words appearing in the three SDSS training sentences. FEROS-only vocabulary such as “hot”, “young” and “HII” sat at random initialisation, and that noise was enough to flip which side of an otherwise-correct boundary each label landed on.</a:t>
            </a:r>
            <a:endParaRPr lang="en-US" sz="1250" dirty="0"/>
          </a:p>
        </p:txBody>
      </p:sp>
      <p:sp>
        <p:nvSpPr>
          <p:cNvPr id="11" name="Shape 8"/>
          <p:cNvSpPr/>
          <p:nvPr/>
        </p:nvSpPr>
        <p:spPr>
          <a:xfrm>
            <a:off x="548640" y="5486400"/>
            <a:ext cx="11091672" cy="749808"/>
          </a:xfrm>
          <a:prstGeom prst="roundRect">
            <a:avLst>
              <a:gd name="adj" fmla="val 7317"/>
            </a:avLst>
          </a:prstGeom>
          <a:solidFill>
            <a:srgbClr val="1F3B63"/>
          </a:solidFill>
          <a:ln w="12700">
            <a:solidFill>
              <a:srgbClr val="1F3B63"/>
            </a:solidFill>
            <a:prstDash val="solid"/>
          </a:ln>
        </p:spPr>
      </p:sp>
      <p:sp>
        <p:nvSpPr>
          <p:cNvPr id="12" name="Text 9"/>
          <p:cNvSpPr/>
          <p:nvPr/>
        </p:nvSpPr>
        <p:spPr>
          <a:xfrm>
            <a:off x="777240" y="553212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The useful finding: the spectral representation generalised across instruments even though the text side did not. A pretrained sentence encoder is the direct fix, scoped but not implemented here.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Background: AION-1 in Short</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THE IDEA BEHIND MODEL 3 (PARKER ET AL. 2025)</a:t>
            </a:r>
            <a:endParaRPr lang="en-US" sz="1100" dirty="0"/>
          </a:p>
        </p:txBody>
      </p:sp>
      <p:sp>
        <p:nvSpPr>
          <p:cNvPr id="4" name="Text 2"/>
          <p:cNvSpPr/>
          <p:nvPr/>
        </p:nvSpPr>
        <p:spPr>
          <a:xfrm>
            <a:off x="548640" y="1463040"/>
            <a:ext cx="5943600" cy="3566160"/>
          </a:xfrm>
          <a:prstGeom prst="rect">
            <a:avLst/>
          </a:prstGeom>
          <a:noFill/>
          <a:ln/>
        </p:spPr>
        <p:txBody>
          <a:bodyPr wrap="square" lIns="0" tIns="0" rIns="0" bIns="0" rtlCol="0" anchor="t"/>
          <a:lstStyle/>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AION-1 is an omnimodal foundation model for astronomy, trained across five surveys (Legacy Survey, HSC, SDSS, DESI and Gaia) covering more than 200 million stars, galaxies and quasars.</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Stage one: modality-specific tokenizers. Each data type, whether image, spectrum or catalogue value, is converted into the same kind of token by its own small encoder.</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Stage two: one shared transformer backbone trained by masked modelling, predicting held-out tokens within and across modalities. No contrastive pairing at all.</a:t>
            </a:r>
            <a:endParaRPr lang="en-US" sz="1350" dirty="0"/>
          </a:p>
          <a:p>
            <a:pPr marL="342900" indent="-342900">
              <a:lnSpc>
                <a:spcPts val="1728"/>
              </a:lnSpc>
              <a:spcAft>
                <a:spcPts val="800"/>
              </a:spcAft>
              <a:buSzPct val="100000"/>
              <a:buChar char="•"/>
            </a:pPr>
            <a:r>
              <a:rPr lang="en-US" sz="1350" dirty="0">
                <a:solidFill>
                  <a:srgbClr val="202020"/>
                </a:solidFill>
                <a:latin typeface="Calibri" pitchFamily="34" charset="0"/>
                <a:ea typeface="Calibri" pitchFamily="34" charset="-122"/>
                <a:cs typeface="Calibri" pitchFamily="34" charset="-120"/>
              </a:rPr>
              <a:t>Released at 300M to 3.1B parameters, with a frozen encoder that transfers to many downstream tasks without retraining.</a:t>
            </a:r>
            <a:endParaRPr lang="en-US" sz="1350" dirty="0"/>
          </a:p>
        </p:txBody>
      </p:sp>
      <p:sp>
        <p:nvSpPr>
          <p:cNvPr id="5" name="Shape 3"/>
          <p:cNvSpPr/>
          <p:nvPr/>
        </p:nvSpPr>
        <p:spPr>
          <a:xfrm>
            <a:off x="6720840" y="1600200"/>
            <a:ext cx="4919472" cy="3291840"/>
          </a:xfrm>
          <a:prstGeom prst="roundRect">
            <a:avLst>
              <a:gd name="adj" fmla="val 1667"/>
            </a:avLst>
          </a:prstGeom>
          <a:solidFill>
            <a:srgbClr val="EDF1F7"/>
          </a:solidFill>
          <a:ln w="12700">
            <a:solidFill>
              <a:srgbClr val="EDF1F7"/>
            </a:solidFill>
            <a:prstDash val="solid"/>
          </a:ln>
        </p:spPr>
      </p:sp>
      <p:sp>
        <p:nvSpPr>
          <p:cNvPr id="6" name="Shape 4"/>
          <p:cNvSpPr/>
          <p:nvPr/>
        </p:nvSpPr>
        <p:spPr>
          <a:xfrm>
            <a:off x="6976872" y="1920240"/>
            <a:ext cx="1371600" cy="640080"/>
          </a:xfrm>
          <a:prstGeom prst="roundRect">
            <a:avLst>
              <a:gd name="adj" fmla="val 14286"/>
            </a:avLst>
          </a:prstGeom>
          <a:solidFill>
            <a:srgbClr val="FFFFFF"/>
          </a:solidFill>
          <a:ln w="12700">
            <a:solidFill>
              <a:srgbClr val="3A5F8F"/>
            </a:solidFill>
            <a:prstDash val="solid"/>
          </a:ln>
        </p:spPr>
      </p:sp>
      <p:sp>
        <p:nvSpPr>
          <p:cNvPr id="7" name="Text 5"/>
          <p:cNvSpPr/>
          <p:nvPr/>
        </p:nvSpPr>
        <p:spPr>
          <a:xfrm>
            <a:off x="7050024" y="1920240"/>
            <a:ext cx="1225296" cy="640080"/>
          </a:xfrm>
          <a:prstGeom prst="rect">
            <a:avLst/>
          </a:prstGeom>
          <a:noFill/>
          <a:ln/>
        </p:spPr>
        <p:txBody>
          <a:bodyPr wrap="square" lIns="0" tIns="0" rIns="0" bIns="0" rtlCol="0" anchor="ctr"/>
          <a:lstStyle/>
          <a:p>
            <a:pPr marL="0" indent="0" algn="ctr">
              <a:buNone/>
            </a:pPr>
            <a:r>
              <a:rPr lang="en-US" sz="1150" b="1" dirty="0">
                <a:solidFill>
                  <a:srgbClr val="1F3B63"/>
                </a:solidFill>
                <a:latin typeface="Calibri" pitchFamily="34" charset="0"/>
                <a:ea typeface="Calibri" pitchFamily="34" charset="-122"/>
                <a:cs typeface="Calibri" pitchFamily="34" charset="-120"/>
              </a:rPr>
              <a:t>Modality A</a:t>
            </a:r>
            <a:endParaRPr lang="en-US" sz="1150" dirty="0"/>
          </a:p>
        </p:txBody>
      </p:sp>
      <p:sp>
        <p:nvSpPr>
          <p:cNvPr id="8" name="Shape 6"/>
          <p:cNvSpPr/>
          <p:nvPr/>
        </p:nvSpPr>
        <p:spPr>
          <a:xfrm>
            <a:off x="6976872" y="2743200"/>
            <a:ext cx="1371600" cy="640080"/>
          </a:xfrm>
          <a:prstGeom prst="roundRect">
            <a:avLst>
              <a:gd name="adj" fmla="val 14286"/>
            </a:avLst>
          </a:prstGeom>
          <a:solidFill>
            <a:srgbClr val="FFFFFF"/>
          </a:solidFill>
          <a:ln w="12700">
            <a:solidFill>
              <a:srgbClr val="3A5F8F"/>
            </a:solidFill>
            <a:prstDash val="solid"/>
          </a:ln>
        </p:spPr>
      </p:sp>
      <p:sp>
        <p:nvSpPr>
          <p:cNvPr id="9" name="Text 7"/>
          <p:cNvSpPr/>
          <p:nvPr/>
        </p:nvSpPr>
        <p:spPr>
          <a:xfrm>
            <a:off x="7050024" y="2743200"/>
            <a:ext cx="1225296" cy="640080"/>
          </a:xfrm>
          <a:prstGeom prst="rect">
            <a:avLst/>
          </a:prstGeom>
          <a:noFill/>
          <a:ln/>
        </p:spPr>
        <p:txBody>
          <a:bodyPr wrap="square" lIns="0" tIns="0" rIns="0" bIns="0" rtlCol="0" anchor="ctr"/>
          <a:lstStyle/>
          <a:p>
            <a:pPr marL="0" indent="0" algn="ctr">
              <a:buNone/>
            </a:pPr>
            <a:r>
              <a:rPr lang="en-US" sz="1150" b="1" dirty="0">
                <a:solidFill>
                  <a:srgbClr val="1F3B63"/>
                </a:solidFill>
                <a:latin typeface="Calibri" pitchFamily="34" charset="0"/>
                <a:ea typeface="Calibri" pitchFamily="34" charset="-122"/>
                <a:cs typeface="Calibri" pitchFamily="34" charset="-120"/>
              </a:rPr>
              <a:t>Modality B</a:t>
            </a:r>
            <a:endParaRPr lang="en-US" sz="1150" dirty="0"/>
          </a:p>
        </p:txBody>
      </p:sp>
      <p:sp>
        <p:nvSpPr>
          <p:cNvPr id="10" name="Shape 8"/>
          <p:cNvSpPr/>
          <p:nvPr/>
        </p:nvSpPr>
        <p:spPr>
          <a:xfrm>
            <a:off x="6976872" y="3566160"/>
            <a:ext cx="1371600" cy="640080"/>
          </a:xfrm>
          <a:prstGeom prst="roundRect">
            <a:avLst>
              <a:gd name="adj" fmla="val 14286"/>
            </a:avLst>
          </a:prstGeom>
          <a:solidFill>
            <a:srgbClr val="FFFFFF"/>
          </a:solidFill>
          <a:ln w="12700">
            <a:solidFill>
              <a:srgbClr val="3A5F8F"/>
            </a:solidFill>
            <a:prstDash val="solid"/>
          </a:ln>
        </p:spPr>
      </p:sp>
      <p:sp>
        <p:nvSpPr>
          <p:cNvPr id="11" name="Text 9"/>
          <p:cNvSpPr/>
          <p:nvPr/>
        </p:nvSpPr>
        <p:spPr>
          <a:xfrm>
            <a:off x="7050024" y="3566160"/>
            <a:ext cx="1225296" cy="640080"/>
          </a:xfrm>
          <a:prstGeom prst="rect">
            <a:avLst/>
          </a:prstGeom>
          <a:noFill/>
          <a:ln/>
        </p:spPr>
        <p:txBody>
          <a:bodyPr wrap="square" lIns="0" tIns="0" rIns="0" bIns="0" rtlCol="0" anchor="ctr"/>
          <a:lstStyle/>
          <a:p>
            <a:pPr marL="0" indent="0" algn="ctr">
              <a:buNone/>
            </a:pPr>
            <a:r>
              <a:rPr lang="en-US" sz="1150" b="1" dirty="0">
                <a:solidFill>
                  <a:srgbClr val="1F3B63"/>
                </a:solidFill>
                <a:latin typeface="Calibri" pitchFamily="34" charset="0"/>
                <a:ea typeface="Calibri" pitchFamily="34" charset="-122"/>
                <a:cs typeface="Calibri" pitchFamily="34" charset="-120"/>
              </a:rPr>
              <a:t>Modality C</a:t>
            </a:r>
            <a:endParaRPr lang="en-US" sz="1150" dirty="0"/>
          </a:p>
        </p:txBody>
      </p:sp>
      <p:sp>
        <p:nvSpPr>
          <p:cNvPr id="12" name="Shape 10"/>
          <p:cNvSpPr/>
          <p:nvPr/>
        </p:nvSpPr>
        <p:spPr>
          <a:xfrm>
            <a:off x="8686800" y="1920240"/>
            <a:ext cx="1234440" cy="2286000"/>
          </a:xfrm>
          <a:prstGeom prst="roundRect">
            <a:avLst>
              <a:gd name="adj" fmla="val 7407"/>
            </a:avLst>
          </a:prstGeom>
          <a:solidFill>
            <a:srgbClr val="FFFFFF"/>
          </a:solidFill>
          <a:ln w="12700">
            <a:solidFill>
              <a:srgbClr val="3A5F8F"/>
            </a:solidFill>
            <a:prstDash val="solid"/>
          </a:ln>
        </p:spPr>
      </p:sp>
      <p:sp>
        <p:nvSpPr>
          <p:cNvPr id="13" name="Text 11"/>
          <p:cNvSpPr/>
          <p:nvPr/>
        </p:nvSpPr>
        <p:spPr>
          <a:xfrm>
            <a:off x="8759952" y="1920240"/>
            <a:ext cx="1088136" cy="2286000"/>
          </a:xfrm>
          <a:prstGeom prst="rect">
            <a:avLst/>
          </a:prstGeom>
          <a:noFill/>
          <a:ln/>
        </p:spPr>
        <p:txBody>
          <a:bodyPr wrap="square" lIns="0" tIns="0" rIns="0" bIns="0" rtlCol="0" anchor="ctr"/>
          <a:lstStyle/>
          <a:p>
            <a:pPr marL="0" indent="0" algn="ctr">
              <a:buNone/>
            </a:pPr>
            <a:r>
              <a:rPr lang="en-US" sz="1100" b="1" dirty="0">
                <a:solidFill>
                  <a:srgbClr val="1F3B63"/>
                </a:solidFill>
                <a:latin typeface="Calibri" pitchFamily="34" charset="0"/>
                <a:ea typeface="Calibri" pitchFamily="34" charset="-122"/>
                <a:cs typeface="Calibri" pitchFamily="34" charset="-120"/>
              </a:rPr>
              <a:t>Own tokenizer per modality</a:t>
            </a:r>
            <a:endParaRPr lang="en-US" sz="1100" dirty="0"/>
          </a:p>
        </p:txBody>
      </p:sp>
      <p:sp>
        <p:nvSpPr>
          <p:cNvPr id="14" name="Shape 12"/>
          <p:cNvSpPr/>
          <p:nvPr/>
        </p:nvSpPr>
        <p:spPr>
          <a:xfrm>
            <a:off x="8348472" y="2240280"/>
            <a:ext cx="292608" cy="0"/>
          </a:xfrm>
          <a:prstGeom prst="line">
            <a:avLst/>
          </a:prstGeom>
          <a:noFill/>
          <a:ln w="22225">
            <a:solidFill>
              <a:srgbClr val="3A5F8F"/>
            </a:solidFill>
            <a:prstDash val="solid"/>
            <a:tailEnd type="triangle"/>
          </a:ln>
        </p:spPr>
      </p:sp>
      <p:sp>
        <p:nvSpPr>
          <p:cNvPr id="15" name="Shape 13"/>
          <p:cNvSpPr/>
          <p:nvPr/>
        </p:nvSpPr>
        <p:spPr>
          <a:xfrm>
            <a:off x="8348472" y="3063240"/>
            <a:ext cx="292608" cy="0"/>
          </a:xfrm>
          <a:prstGeom prst="line">
            <a:avLst/>
          </a:prstGeom>
          <a:noFill/>
          <a:ln w="22225">
            <a:solidFill>
              <a:srgbClr val="3A5F8F"/>
            </a:solidFill>
            <a:prstDash val="solid"/>
            <a:tailEnd type="triangle"/>
          </a:ln>
        </p:spPr>
      </p:sp>
      <p:sp>
        <p:nvSpPr>
          <p:cNvPr id="16" name="Shape 14"/>
          <p:cNvSpPr/>
          <p:nvPr/>
        </p:nvSpPr>
        <p:spPr>
          <a:xfrm>
            <a:off x="8348472" y="3886200"/>
            <a:ext cx="292608" cy="0"/>
          </a:xfrm>
          <a:prstGeom prst="line">
            <a:avLst/>
          </a:prstGeom>
          <a:noFill/>
          <a:ln w="22225">
            <a:solidFill>
              <a:srgbClr val="3A5F8F"/>
            </a:solidFill>
            <a:prstDash val="solid"/>
            <a:tailEnd type="triangle"/>
          </a:ln>
        </p:spPr>
      </p:sp>
      <p:sp>
        <p:nvSpPr>
          <p:cNvPr id="17" name="Shape 15"/>
          <p:cNvSpPr/>
          <p:nvPr/>
        </p:nvSpPr>
        <p:spPr>
          <a:xfrm>
            <a:off x="9921240" y="3063240"/>
            <a:ext cx="292608" cy="0"/>
          </a:xfrm>
          <a:prstGeom prst="line">
            <a:avLst/>
          </a:prstGeom>
          <a:noFill/>
          <a:ln w="22225">
            <a:solidFill>
              <a:srgbClr val="3A5F8F"/>
            </a:solidFill>
            <a:prstDash val="solid"/>
            <a:tailEnd type="triangle"/>
          </a:ln>
        </p:spPr>
      </p:sp>
      <p:sp>
        <p:nvSpPr>
          <p:cNvPr id="18" name="Shape 16"/>
          <p:cNvSpPr/>
          <p:nvPr/>
        </p:nvSpPr>
        <p:spPr>
          <a:xfrm>
            <a:off x="10259568" y="1920240"/>
            <a:ext cx="1143000" cy="2286000"/>
          </a:xfrm>
          <a:prstGeom prst="roundRect">
            <a:avLst>
              <a:gd name="adj" fmla="val 8000"/>
            </a:avLst>
          </a:prstGeom>
          <a:solidFill>
            <a:srgbClr val="1F3B63"/>
          </a:solidFill>
          <a:ln w="12700">
            <a:solidFill>
              <a:srgbClr val="1F3B63"/>
            </a:solidFill>
            <a:prstDash val="solid"/>
          </a:ln>
        </p:spPr>
      </p:sp>
      <p:sp>
        <p:nvSpPr>
          <p:cNvPr id="19" name="Text 17"/>
          <p:cNvSpPr/>
          <p:nvPr/>
        </p:nvSpPr>
        <p:spPr>
          <a:xfrm>
            <a:off x="10332720" y="1920240"/>
            <a:ext cx="996696" cy="22860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One shared transformer, masked modelling</a:t>
            </a:r>
            <a:endParaRPr lang="en-US" sz="1100" dirty="0"/>
          </a:p>
        </p:txBody>
      </p:sp>
      <p:sp>
        <p:nvSpPr>
          <p:cNvPr id="20" name="Shape 18"/>
          <p:cNvSpPr/>
          <p:nvPr/>
        </p:nvSpPr>
        <p:spPr>
          <a:xfrm>
            <a:off x="548640" y="5120640"/>
            <a:ext cx="11091672" cy="749808"/>
          </a:xfrm>
          <a:prstGeom prst="roundRect">
            <a:avLst>
              <a:gd name="adj" fmla="val 7317"/>
            </a:avLst>
          </a:prstGeom>
          <a:solidFill>
            <a:srgbClr val="1F3B63"/>
          </a:solidFill>
          <a:ln w="12700">
            <a:solidFill>
              <a:srgbClr val="1F3B63"/>
            </a:solidFill>
            <a:prstDash val="solid"/>
          </a:ln>
        </p:spPr>
      </p:sp>
      <p:sp>
        <p:nvSpPr>
          <p:cNvPr id="21" name="Text 19"/>
          <p:cNvSpPr/>
          <p:nvPr/>
        </p:nvSpPr>
        <p:spPr>
          <a:xfrm>
            <a:off x="777240" y="516636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Why it fits here: tokenize first, then fuse. That sidesteps the 50x resolution gap between MUSE and FEROS instead of resampling both onto one grid. Model 3 is a small single-object version of this idea, not a reproduction of AION-1.</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6F5B0B-30A7-DCB0-F47D-5942D148FD4F}"/>
              </a:ext>
            </a:extLst>
          </p:cNvPr>
          <p:cNvPicPr>
            <a:picLocks noChangeAspect="1"/>
          </p:cNvPicPr>
          <p:nvPr/>
        </p:nvPicPr>
        <p:blipFill>
          <a:blip r:embed="rId2"/>
          <a:stretch>
            <a:fillRect/>
          </a:stretch>
        </p:blipFill>
        <p:spPr>
          <a:xfrm>
            <a:off x="1912257" y="1638145"/>
            <a:ext cx="8367485" cy="3581710"/>
          </a:xfrm>
          <a:prstGeom prst="rect">
            <a:avLst/>
          </a:prstGeom>
        </p:spPr>
      </p:pic>
      <p:sp>
        <p:nvSpPr>
          <p:cNvPr id="4" name="TextBox 3">
            <a:extLst>
              <a:ext uri="{FF2B5EF4-FFF2-40B4-BE49-F238E27FC236}">
                <a16:creationId xmlns:a16="http://schemas.microsoft.com/office/drawing/2014/main" id="{A7D37CEA-F656-FBCE-0E91-0E35BAF8620F}"/>
              </a:ext>
            </a:extLst>
          </p:cNvPr>
          <p:cNvSpPr txBox="1"/>
          <p:nvPr/>
        </p:nvSpPr>
        <p:spPr>
          <a:xfrm>
            <a:off x="2281881" y="535459"/>
            <a:ext cx="7026876" cy="523220"/>
          </a:xfrm>
          <a:prstGeom prst="rect">
            <a:avLst/>
          </a:prstGeom>
          <a:noFill/>
        </p:spPr>
        <p:txBody>
          <a:bodyPr wrap="square" rtlCol="0">
            <a:spAutoFit/>
          </a:bodyPr>
          <a:lstStyle/>
          <a:p>
            <a:pPr algn="ctr"/>
            <a:r>
              <a:rPr lang="en-IN" sz="2800" b="1" dirty="0">
                <a:solidFill>
                  <a:srgbClr val="002060"/>
                </a:solidFill>
              </a:rPr>
              <a:t>AION-1 model</a:t>
            </a:r>
          </a:p>
        </p:txBody>
      </p:sp>
    </p:spTree>
    <p:extLst>
      <p:ext uri="{BB962C8B-B14F-4D97-AF65-F5344CB8AC3E}">
        <p14:creationId xmlns:p14="http://schemas.microsoft.com/office/powerpoint/2010/main" val="334005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3: Shared Transformer — How It Works</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 4 — FUSING TWO INSTRUMENTS, NO CONTRASTIVE LOSS</a:t>
            </a:r>
            <a:endParaRPr lang="en-US" sz="1100" dirty="0"/>
          </a:p>
        </p:txBody>
      </p:sp>
      <p:sp>
        <p:nvSpPr>
          <p:cNvPr id="4" name="Shape 2"/>
          <p:cNvSpPr/>
          <p:nvPr/>
        </p:nvSpPr>
        <p:spPr>
          <a:xfrm>
            <a:off x="548640" y="1600200"/>
            <a:ext cx="2011680" cy="868680"/>
          </a:xfrm>
          <a:prstGeom prst="roundRect">
            <a:avLst>
              <a:gd name="adj" fmla="val 10526"/>
            </a:avLst>
          </a:prstGeom>
          <a:solidFill>
            <a:srgbClr val="1F3B63"/>
          </a:solidFill>
          <a:ln w="12700">
            <a:solidFill>
              <a:srgbClr val="1F3B63"/>
            </a:solidFill>
            <a:prstDash val="solid"/>
          </a:ln>
        </p:spPr>
      </p:sp>
      <p:sp>
        <p:nvSpPr>
          <p:cNvPr id="5" name="Text 3"/>
          <p:cNvSpPr/>
          <p:nvPr/>
        </p:nvSpPr>
        <p:spPr>
          <a:xfrm>
            <a:off x="621792" y="1691640"/>
            <a:ext cx="1865376" cy="416966"/>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MUSE spectrum</a:t>
            </a:r>
            <a:endParaRPr lang="en-US" sz="1250" dirty="0"/>
          </a:p>
        </p:txBody>
      </p:sp>
      <p:sp>
        <p:nvSpPr>
          <p:cNvPr id="6" name="Text 4"/>
          <p:cNvSpPr/>
          <p:nvPr/>
        </p:nvSpPr>
        <p:spPr>
          <a:xfrm>
            <a:off x="621792" y="2034540"/>
            <a:ext cx="1865376" cy="390906"/>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3,681 points</a:t>
            </a:r>
            <a:endParaRPr lang="en-US" sz="1000" dirty="0"/>
          </a:p>
        </p:txBody>
      </p:sp>
      <p:sp>
        <p:nvSpPr>
          <p:cNvPr id="7" name="Shape 5"/>
          <p:cNvSpPr/>
          <p:nvPr/>
        </p:nvSpPr>
        <p:spPr>
          <a:xfrm>
            <a:off x="548640" y="2697480"/>
            <a:ext cx="2011680" cy="868680"/>
          </a:xfrm>
          <a:prstGeom prst="roundRect">
            <a:avLst>
              <a:gd name="adj" fmla="val 10526"/>
            </a:avLst>
          </a:prstGeom>
          <a:solidFill>
            <a:srgbClr val="1F3B63"/>
          </a:solidFill>
          <a:ln w="12700">
            <a:solidFill>
              <a:srgbClr val="1F3B63"/>
            </a:solidFill>
            <a:prstDash val="solid"/>
          </a:ln>
        </p:spPr>
      </p:sp>
      <p:sp>
        <p:nvSpPr>
          <p:cNvPr id="8" name="Text 6"/>
          <p:cNvSpPr/>
          <p:nvPr/>
        </p:nvSpPr>
        <p:spPr>
          <a:xfrm>
            <a:off x="621792" y="2788920"/>
            <a:ext cx="1865376" cy="416966"/>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FEROS spectrum</a:t>
            </a:r>
            <a:endParaRPr lang="en-US" sz="1250" dirty="0"/>
          </a:p>
        </p:txBody>
      </p:sp>
      <p:sp>
        <p:nvSpPr>
          <p:cNvPr id="9" name="Text 7"/>
          <p:cNvSpPr/>
          <p:nvPr/>
        </p:nvSpPr>
        <p:spPr>
          <a:xfrm>
            <a:off x="621792" y="3131820"/>
            <a:ext cx="1865376" cy="390906"/>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~189,626 points</a:t>
            </a:r>
            <a:endParaRPr lang="en-US" sz="1000" dirty="0"/>
          </a:p>
        </p:txBody>
      </p:sp>
      <p:sp>
        <p:nvSpPr>
          <p:cNvPr id="10" name="Shape 8"/>
          <p:cNvSpPr/>
          <p:nvPr/>
        </p:nvSpPr>
        <p:spPr>
          <a:xfrm>
            <a:off x="2560320" y="2029968"/>
            <a:ext cx="411480" cy="0"/>
          </a:xfrm>
          <a:prstGeom prst="line">
            <a:avLst/>
          </a:prstGeom>
          <a:noFill/>
          <a:ln w="22225">
            <a:solidFill>
              <a:srgbClr val="3A5F8F"/>
            </a:solidFill>
            <a:prstDash val="solid"/>
            <a:tailEnd type="triangle"/>
          </a:ln>
        </p:spPr>
      </p:sp>
      <p:sp>
        <p:nvSpPr>
          <p:cNvPr id="11" name="Shape 9"/>
          <p:cNvSpPr/>
          <p:nvPr/>
        </p:nvSpPr>
        <p:spPr>
          <a:xfrm>
            <a:off x="2560320" y="3127248"/>
            <a:ext cx="411480" cy="0"/>
          </a:xfrm>
          <a:prstGeom prst="line">
            <a:avLst/>
          </a:prstGeom>
          <a:noFill/>
          <a:ln w="22225">
            <a:solidFill>
              <a:srgbClr val="3A5F8F"/>
            </a:solidFill>
            <a:prstDash val="solid"/>
            <a:tailEnd type="triangle"/>
          </a:ln>
        </p:spPr>
      </p:sp>
      <p:sp>
        <p:nvSpPr>
          <p:cNvPr id="12" name="Shape 10"/>
          <p:cNvSpPr/>
          <p:nvPr/>
        </p:nvSpPr>
        <p:spPr>
          <a:xfrm>
            <a:off x="3017520" y="1600200"/>
            <a:ext cx="1828800" cy="868680"/>
          </a:xfrm>
          <a:prstGeom prst="roundRect">
            <a:avLst>
              <a:gd name="adj" fmla="val 10526"/>
            </a:avLst>
          </a:prstGeom>
          <a:solidFill>
            <a:srgbClr val="EDF1F7"/>
          </a:solidFill>
          <a:ln w="12700">
            <a:solidFill>
              <a:srgbClr val="3A5F8F"/>
            </a:solidFill>
            <a:prstDash val="solid"/>
          </a:ln>
        </p:spPr>
      </p:sp>
      <p:sp>
        <p:nvSpPr>
          <p:cNvPr id="13" name="Text 11"/>
          <p:cNvSpPr/>
          <p:nvPr/>
        </p:nvSpPr>
        <p:spPr>
          <a:xfrm>
            <a:off x="3090672" y="1691640"/>
            <a:ext cx="1682496" cy="416966"/>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MUSE tokenizer</a:t>
            </a:r>
            <a:endParaRPr lang="en-US" sz="1250" dirty="0"/>
          </a:p>
        </p:txBody>
      </p:sp>
      <p:sp>
        <p:nvSpPr>
          <p:cNvPr id="14" name="Text 12"/>
          <p:cNvSpPr/>
          <p:nvPr/>
        </p:nvSpPr>
        <p:spPr>
          <a:xfrm>
            <a:off x="3090672" y="2034540"/>
            <a:ext cx="1682496" cy="390906"/>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pool to 48 bins</a:t>
            </a:r>
            <a:endParaRPr lang="en-US" sz="1000" dirty="0"/>
          </a:p>
        </p:txBody>
      </p:sp>
      <p:sp>
        <p:nvSpPr>
          <p:cNvPr id="15" name="Shape 13"/>
          <p:cNvSpPr/>
          <p:nvPr/>
        </p:nvSpPr>
        <p:spPr>
          <a:xfrm>
            <a:off x="3017520" y="2697480"/>
            <a:ext cx="1828800" cy="868680"/>
          </a:xfrm>
          <a:prstGeom prst="roundRect">
            <a:avLst>
              <a:gd name="adj" fmla="val 10526"/>
            </a:avLst>
          </a:prstGeom>
          <a:solidFill>
            <a:srgbClr val="EDF1F7"/>
          </a:solidFill>
          <a:ln w="12700">
            <a:solidFill>
              <a:srgbClr val="3A5F8F"/>
            </a:solidFill>
            <a:prstDash val="solid"/>
          </a:ln>
        </p:spPr>
      </p:sp>
      <p:sp>
        <p:nvSpPr>
          <p:cNvPr id="16" name="Text 14"/>
          <p:cNvSpPr/>
          <p:nvPr/>
        </p:nvSpPr>
        <p:spPr>
          <a:xfrm>
            <a:off x="3090672" y="2788920"/>
            <a:ext cx="1682496" cy="416966"/>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FEROS tokenizer</a:t>
            </a:r>
            <a:endParaRPr lang="en-US" sz="1250" dirty="0"/>
          </a:p>
        </p:txBody>
      </p:sp>
      <p:sp>
        <p:nvSpPr>
          <p:cNvPr id="17" name="Text 15"/>
          <p:cNvSpPr/>
          <p:nvPr/>
        </p:nvSpPr>
        <p:spPr>
          <a:xfrm>
            <a:off x="3090672" y="3131820"/>
            <a:ext cx="1682496" cy="390906"/>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pool to 48 bins</a:t>
            </a:r>
            <a:endParaRPr lang="en-US" sz="1000" dirty="0"/>
          </a:p>
        </p:txBody>
      </p:sp>
      <p:sp>
        <p:nvSpPr>
          <p:cNvPr id="18" name="Shape 16"/>
          <p:cNvSpPr/>
          <p:nvPr/>
        </p:nvSpPr>
        <p:spPr>
          <a:xfrm>
            <a:off x="4846320" y="2029968"/>
            <a:ext cx="457200" cy="384048"/>
          </a:xfrm>
          <a:prstGeom prst="line">
            <a:avLst/>
          </a:prstGeom>
          <a:noFill/>
          <a:ln w="22225">
            <a:solidFill>
              <a:srgbClr val="3A5F8F"/>
            </a:solidFill>
            <a:prstDash val="solid"/>
            <a:tailEnd type="triangle"/>
          </a:ln>
        </p:spPr>
      </p:sp>
      <p:sp>
        <p:nvSpPr>
          <p:cNvPr id="19" name="Shape 17"/>
          <p:cNvSpPr/>
          <p:nvPr/>
        </p:nvSpPr>
        <p:spPr>
          <a:xfrm>
            <a:off x="4846320" y="3127248"/>
            <a:ext cx="457200" cy="0"/>
          </a:xfrm>
          <a:prstGeom prst="line">
            <a:avLst/>
          </a:prstGeom>
          <a:noFill/>
          <a:ln w="22225">
            <a:solidFill>
              <a:srgbClr val="3A5F8F"/>
            </a:solidFill>
            <a:prstDash val="solid"/>
            <a:tailEnd type="triangle"/>
          </a:ln>
        </p:spPr>
      </p:sp>
      <p:sp>
        <p:nvSpPr>
          <p:cNvPr id="20" name="Shape 18"/>
          <p:cNvSpPr/>
          <p:nvPr/>
        </p:nvSpPr>
        <p:spPr>
          <a:xfrm>
            <a:off x="5349240" y="1965960"/>
            <a:ext cx="1965960" cy="1417320"/>
          </a:xfrm>
          <a:prstGeom prst="roundRect">
            <a:avLst>
              <a:gd name="adj" fmla="val 6452"/>
            </a:avLst>
          </a:prstGeom>
          <a:solidFill>
            <a:srgbClr val="FBF2DF"/>
          </a:solidFill>
          <a:ln w="12700">
            <a:solidFill>
              <a:srgbClr val="E8A61E"/>
            </a:solidFill>
            <a:prstDash val="solid"/>
          </a:ln>
        </p:spPr>
      </p:sp>
      <p:sp>
        <p:nvSpPr>
          <p:cNvPr id="21" name="Text 19"/>
          <p:cNvSpPr/>
          <p:nvPr/>
        </p:nvSpPr>
        <p:spPr>
          <a:xfrm>
            <a:off x="5422392" y="2057400"/>
            <a:ext cx="1819656" cy="680314"/>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48 tokens x 64-d</a:t>
            </a:r>
            <a:endParaRPr lang="en-US" sz="1250" dirty="0"/>
          </a:p>
        </p:txBody>
      </p:sp>
      <p:sp>
        <p:nvSpPr>
          <p:cNvPr id="22" name="Text 20"/>
          <p:cNvSpPr/>
          <p:nvPr/>
        </p:nvSpPr>
        <p:spPr>
          <a:xfrm>
            <a:off x="5422392" y="2674620"/>
            <a:ext cx="1819656" cy="637794"/>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plus a learned positional embedding per bin index</a:t>
            </a:r>
            <a:endParaRPr lang="en-US" sz="1000" dirty="0"/>
          </a:p>
        </p:txBody>
      </p:sp>
      <p:sp>
        <p:nvSpPr>
          <p:cNvPr id="23" name="Shape 21"/>
          <p:cNvSpPr/>
          <p:nvPr/>
        </p:nvSpPr>
        <p:spPr>
          <a:xfrm>
            <a:off x="7315200" y="2651760"/>
            <a:ext cx="457200" cy="0"/>
          </a:xfrm>
          <a:prstGeom prst="line">
            <a:avLst/>
          </a:prstGeom>
          <a:noFill/>
          <a:ln w="22225">
            <a:solidFill>
              <a:srgbClr val="3A5F8F"/>
            </a:solidFill>
            <a:prstDash val="solid"/>
            <a:tailEnd type="triangle"/>
          </a:ln>
        </p:spPr>
      </p:sp>
      <p:sp>
        <p:nvSpPr>
          <p:cNvPr id="24" name="Shape 22"/>
          <p:cNvSpPr/>
          <p:nvPr/>
        </p:nvSpPr>
        <p:spPr>
          <a:xfrm>
            <a:off x="7818120" y="1965960"/>
            <a:ext cx="1783080" cy="1417320"/>
          </a:xfrm>
          <a:prstGeom prst="roundRect">
            <a:avLst>
              <a:gd name="adj" fmla="val 6452"/>
            </a:avLst>
          </a:prstGeom>
          <a:solidFill>
            <a:srgbClr val="EDF1F7"/>
          </a:solidFill>
          <a:ln w="12700">
            <a:solidFill>
              <a:srgbClr val="3A5F8F"/>
            </a:solidFill>
            <a:prstDash val="solid"/>
          </a:ln>
        </p:spPr>
      </p:sp>
      <p:sp>
        <p:nvSpPr>
          <p:cNvPr id="25" name="Text 23"/>
          <p:cNvSpPr/>
          <p:nvPr/>
        </p:nvSpPr>
        <p:spPr>
          <a:xfrm>
            <a:off x="7891272" y="2057400"/>
            <a:ext cx="1636776" cy="680314"/>
          </a:xfrm>
          <a:prstGeom prst="rect">
            <a:avLst/>
          </a:prstGeom>
          <a:noFill/>
          <a:ln/>
        </p:spPr>
        <p:txBody>
          <a:bodyPr wrap="square" lIns="0" tIns="0" rIns="0" bIns="0" rtlCol="0" anchor="b"/>
          <a:lstStyle/>
          <a:p>
            <a:pPr marL="0" indent="0" algn="ctr">
              <a:buNone/>
            </a:pPr>
            <a:r>
              <a:rPr lang="en-US" sz="1250" b="1" dirty="0">
                <a:solidFill>
                  <a:srgbClr val="1F3B63"/>
                </a:solidFill>
                <a:latin typeface="Calibri" pitchFamily="34" charset="0"/>
                <a:ea typeface="Calibri" pitchFamily="34" charset="-122"/>
                <a:cs typeface="Calibri" pitchFamily="34" charset="-120"/>
              </a:rPr>
              <a:t>Mask 15% of bins</a:t>
            </a:r>
            <a:endParaRPr lang="en-US" sz="1250" dirty="0"/>
          </a:p>
        </p:txBody>
      </p:sp>
      <p:sp>
        <p:nvSpPr>
          <p:cNvPr id="26" name="Text 24"/>
          <p:cNvSpPr/>
          <p:nvPr/>
        </p:nvSpPr>
        <p:spPr>
          <a:xfrm>
            <a:off x="7891272" y="2674620"/>
            <a:ext cx="1636776" cy="637794"/>
          </a:xfrm>
          <a:prstGeom prst="rect">
            <a:avLst/>
          </a:prstGeom>
          <a:noFill/>
          <a:ln/>
        </p:spPr>
        <p:txBody>
          <a:bodyPr wrap="square" lIns="0" tIns="0" rIns="0" bIns="0" rtlCol="0" anchor="t"/>
          <a:lstStyle/>
          <a:p>
            <a:pPr marL="0" indent="0" algn="ctr">
              <a:lnSpc>
                <a:spcPts val="1200"/>
              </a:lnSpc>
              <a:buNone/>
            </a:pPr>
            <a:r>
              <a:rPr lang="en-US" sz="1000" dirty="0">
                <a:solidFill>
                  <a:srgbClr val="5B6675"/>
                </a:solidFill>
                <a:latin typeface="Calibri" pitchFamily="34" charset="0"/>
                <a:ea typeface="Calibri" pitchFamily="34" charset="-122"/>
                <a:cs typeface="Calibri" pitchFamily="34" charset="-120"/>
              </a:rPr>
              <a:t>replaced by a learned mask token</a:t>
            </a:r>
            <a:endParaRPr lang="en-US" sz="1000" dirty="0"/>
          </a:p>
        </p:txBody>
      </p:sp>
      <p:sp>
        <p:nvSpPr>
          <p:cNvPr id="27" name="Shape 25"/>
          <p:cNvSpPr/>
          <p:nvPr/>
        </p:nvSpPr>
        <p:spPr>
          <a:xfrm>
            <a:off x="9601200" y="2651760"/>
            <a:ext cx="411480" cy="0"/>
          </a:xfrm>
          <a:prstGeom prst="line">
            <a:avLst/>
          </a:prstGeom>
          <a:noFill/>
          <a:ln w="22225">
            <a:solidFill>
              <a:srgbClr val="3A5F8F"/>
            </a:solidFill>
            <a:prstDash val="solid"/>
            <a:tailEnd type="triangle"/>
          </a:ln>
        </p:spPr>
      </p:sp>
      <p:sp>
        <p:nvSpPr>
          <p:cNvPr id="28" name="Shape 26"/>
          <p:cNvSpPr/>
          <p:nvPr/>
        </p:nvSpPr>
        <p:spPr>
          <a:xfrm>
            <a:off x="10012680" y="1965960"/>
            <a:ext cx="1627632" cy="1417320"/>
          </a:xfrm>
          <a:prstGeom prst="roundRect">
            <a:avLst>
              <a:gd name="adj" fmla="val 6452"/>
            </a:avLst>
          </a:prstGeom>
          <a:solidFill>
            <a:srgbClr val="1F3B63"/>
          </a:solidFill>
          <a:ln w="12700">
            <a:solidFill>
              <a:srgbClr val="1F3B63"/>
            </a:solidFill>
            <a:prstDash val="solid"/>
          </a:ln>
        </p:spPr>
      </p:sp>
      <p:sp>
        <p:nvSpPr>
          <p:cNvPr id="29" name="Text 27"/>
          <p:cNvSpPr/>
          <p:nvPr/>
        </p:nvSpPr>
        <p:spPr>
          <a:xfrm>
            <a:off x="10085832" y="2057400"/>
            <a:ext cx="1481328" cy="680314"/>
          </a:xfrm>
          <a:prstGeom prst="rect">
            <a:avLst/>
          </a:prstGeom>
          <a:noFill/>
          <a:ln/>
        </p:spPr>
        <p:txBody>
          <a:bodyPr wrap="square" lIns="0" tIns="0" rIns="0" bIns="0" rtlCol="0" anchor="b"/>
          <a:lstStyle/>
          <a:p>
            <a:pPr marL="0" indent="0" algn="ctr">
              <a:buNone/>
            </a:pPr>
            <a:r>
              <a:rPr lang="en-US" sz="1250" b="1" dirty="0">
                <a:solidFill>
                  <a:srgbClr val="FFFFFF"/>
                </a:solidFill>
                <a:latin typeface="Calibri" pitchFamily="34" charset="0"/>
                <a:ea typeface="Calibri" pitchFamily="34" charset="-122"/>
                <a:cs typeface="Calibri" pitchFamily="34" charset="-120"/>
              </a:rPr>
              <a:t>Shared transformer</a:t>
            </a:r>
            <a:endParaRPr lang="en-US" sz="1250" dirty="0"/>
          </a:p>
        </p:txBody>
      </p:sp>
      <p:sp>
        <p:nvSpPr>
          <p:cNvPr id="30" name="Text 28"/>
          <p:cNvSpPr/>
          <p:nvPr/>
        </p:nvSpPr>
        <p:spPr>
          <a:xfrm>
            <a:off x="10085832" y="2674620"/>
            <a:ext cx="1481328" cy="637794"/>
          </a:xfrm>
          <a:prstGeom prst="rect">
            <a:avLst/>
          </a:prstGeom>
          <a:noFill/>
          <a:ln/>
        </p:spPr>
        <p:txBody>
          <a:bodyPr wrap="square" lIns="0" tIns="0" rIns="0" bIns="0" rtlCol="0" anchor="t"/>
          <a:lstStyle/>
          <a:p>
            <a:pPr marL="0" indent="0" algn="ctr">
              <a:lnSpc>
                <a:spcPts val="1200"/>
              </a:lnSpc>
              <a:buNone/>
            </a:pPr>
            <a:r>
              <a:rPr lang="en-US" sz="1000" dirty="0">
                <a:solidFill>
                  <a:srgbClr val="C9D6E8"/>
                </a:solidFill>
                <a:latin typeface="Calibri" pitchFamily="34" charset="0"/>
                <a:ea typeface="Calibri" pitchFamily="34" charset="-122"/>
                <a:cs typeface="Calibri" pitchFamily="34" charset="-120"/>
              </a:rPr>
              <a:t>3 layers, 4 heads</a:t>
            </a:r>
            <a:endParaRPr lang="en-US" sz="1000" dirty="0"/>
          </a:p>
        </p:txBody>
      </p:sp>
      <p:sp>
        <p:nvSpPr>
          <p:cNvPr id="31" name="Shape 29"/>
          <p:cNvSpPr/>
          <p:nvPr/>
        </p:nvSpPr>
        <p:spPr>
          <a:xfrm>
            <a:off x="10835640" y="3383280"/>
            <a:ext cx="0" cy="411480"/>
          </a:xfrm>
          <a:prstGeom prst="line">
            <a:avLst/>
          </a:prstGeom>
          <a:noFill/>
          <a:ln w="22225">
            <a:solidFill>
              <a:srgbClr val="3A5F8F"/>
            </a:solidFill>
            <a:prstDash val="solid"/>
            <a:tailEnd type="triangle"/>
          </a:ln>
        </p:spPr>
      </p:sp>
      <p:sp>
        <p:nvSpPr>
          <p:cNvPr id="32" name="Shape 30"/>
          <p:cNvSpPr/>
          <p:nvPr/>
        </p:nvSpPr>
        <p:spPr>
          <a:xfrm>
            <a:off x="8686800" y="3794760"/>
            <a:ext cx="2953512" cy="822960"/>
          </a:xfrm>
          <a:prstGeom prst="roundRect">
            <a:avLst>
              <a:gd name="adj" fmla="val 11111"/>
            </a:avLst>
          </a:prstGeom>
          <a:solidFill>
            <a:srgbClr val="FBF2DF"/>
          </a:solidFill>
          <a:ln w="12700">
            <a:solidFill>
              <a:srgbClr val="E8A61E"/>
            </a:solidFill>
            <a:prstDash val="solid"/>
          </a:ln>
        </p:spPr>
      </p:sp>
      <p:sp>
        <p:nvSpPr>
          <p:cNvPr id="33" name="Text 31"/>
          <p:cNvSpPr/>
          <p:nvPr/>
        </p:nvSpPr>
        <p:spPr>
          <a:xfrm>
            <a:off x="8759952" y="3794760"/>
            <a:ext cx="2807208" cy="822960"/>
          </a:xfrm>
          <a:prstGeom prst="rect">
            <a:avLst/>
          </a:prstGeom>
          <a:noFill/>
          <a:ln/>
        </p:spPr>
        <p:txBody>
          <a:bodyPr wrap="square" lIns="0" tIns="0" rIns="0" bIns="0" rtlCol="0" anchor="ctr"/>
          <a:lstStyle/>
          <a:p>
            <a:pPr marL="0" indent="0" algn="ctr">
              <a:buNone/>
            </a:pPr>
            <a:r>
              <a:rPr lang="en-US" sz="1150" b="1" dirty="0">
                <a:solidFill>
                  <a:srgbClr val="1F3B63"/>
                </a:solidFill>
                <a:latin typeface="Calibri" pitchFamily="34" charset="0"/>
                <a:ea typeface="Calibri" pitchFamily="34" charset="-122"/>
                <a:cs typeface="Calibri" pitchFamily="34" charset="-120"/>
              </a:rPr>
              <a:t>Reconstruction head → MSE on masked bins only</a:t>
            </a:r>
            <a:endParaRPr lang="en-US" sz="1150" dirty="0"/>
          </a:p>
        </p:txBody>
      </p:sp>
      <p:sp>
        <p:nvSpPr>
          <p:cNvPr id="34" name="Shape 32"/>
          <p:cNvSpPr/>
          <p:nvPr/>
        </p:nvSpPr>
        <p:spPr>
          <a:xfrm>
            <a:off x="8686800" y="4206240"/>
            <a:ext cx="0" cy="0"/>
          </a:xfrm>
          <a:prstGeom prst="line">
            <a:avLst/>
          </a:prstGeom>
          <a:noFill/>
          <a:ln w="22225">
            <a:solidFill>
              <a:srgbClr val="3A5F8F"/>
            </a:solidFill>
            <a:prstDash val="solid"/>
            <a:tailEnd type="triangle"/>
          </a:ln>
        </p:spPr>
      </p:sp>
      <p:sp>
        <p:nvSpPr>
          <p:cNvPr id="35" name="Shape 33"/>
          <p:cNvSpPr/>
          <p:nvPr/>
        </p:nvSpPr>
        <p:spPr>
          <a:xfrm>
            <a:off x="5943600" y="3794760"/>
            <a:ext cx="2011680" cy="822960"/>
          </a:xfrm>
          <a:prstGeom prst="roundRect">
            <a:avLst>
              <a:gd name="adj" fmla="val 11111"/>
            </a:avLst>
          </a:prstGeom>
          <a:solidFill>
            <a:srgbClr val="EDF1F7"/>
          </a:solidFill>
          <a:ln w="12700">
            <a:solidFill>
              <a:srgbClr val="3A5F8F"/>
            </a:solidFill>
            <a:prstDash val="solid"/>
          </a:ln>
        </p:spPr>
      </p:sp>
      <p:sp>
        <p:nvSpPr>
          <p:cNvPr id="36" name="Text 34"/>
          <p:cNvSpPr/>
          <p:nvPr/>
        </p:nvSpPr>
        <p:spPr>
          <a:xfrm>
            <a:off x="6016752" y="3794760"/>
            <a:ext cx="1865376" cy="822960"/>
          </a:xfrm>
          <a:prstGeom prst="rect">
            <a:avLst/>
          </a:prstGeom>
          <a:noFill/>
          <a:ln/>
        </p:spPr>
        <p:txBody>
          <a:bodyPr wrap="square" lIns="0" tIns="0" rIns="0" bIns="0" rtlCol="0" anchor="ctr"/>
          <a:lstStyle/>
          <a:p>
            <a:pPr marL="0" indent="0" algn="ctr">
              <a:buNone/>
            </a:pPr>
            <a:r>
              <a:rPr lang="en-US" sz="1150" b="1" dirty="0">
                <a:solidFill>
                  <a:srgbClr val="1F3B63"/>
                </a:solidFill>
                <a:latin typeface="Calibri" pitchFamily="34" charset="0"/>
                <a:ea typeface="Calibri" pitchFamily="34" charset="-122"/>
                <a:cs typeface="Calibri" pitchFamily="34" charset="-120"/>
              </a:rPr>
              <a:t>Learned embeddings</a:t>
            </a:r>
            <a:endParaRPr lang="en-US" sz="1150" dirty="0"/>
          </a:p>
        </p:txBody>
      </p:sp>
      <p:sp>
        <p:nvSpPr>
          <p:cNvPr id="37" name="Shape 35"/>
          <p:cNvSpPr/>
          <p:nvPr/>
        </p:nvSpPr>
        <p:spPr>
          <a:xfrm>
            <a:off x="5943600" y="4206240"/>
            <a:ext cx="0" cy="0"/>
          </a:xfrm>
          <a:prstGeom prst="line">
            <a:avLst/>
          </a:prstGeom>
          <a:noFill/>
          <a:ln w="22225">
            <a:solidFill>
              <a:srgbClr val="3A5F8F"/>
            </a:solidFill>
            <a:prstDash val="solid"/>
            <a:tailEnd type="triangle"/>
          </a:ln>
        </p:spPr>
      </p:sp>
      <p:sp>
        <p:nvSpPr>
          <p:cNvPr id="38" name="Shape 36"/>
          <p:cNvSpPr/>
          <p:nvPr/>
        </p:nvSpPr>
        <p:spPr>
          <a:xfrm>
            <a:off x="3246120" y="3794760"/>
            <a:ext cx="2057400" cy="822960"/>
          </a:xfrm>
          <a:prstGeom prst="roundRect">
            <a:avLst>
              <a:gd name="adj" fmla="val 11111"/>
            </a:avLst>
          </a:prstGeom>
          <a:solidFill>
            <a:srgbClr val="EDF1F7"/>
          </a:solidFill>
          <a:ln w="12700">
            <a:solidFill>
              <a:srgbClr val="3A5F8F"/>
            </a:solidFill>
            <a:prstDash val="solid"/>
          </a:ln>
        </p:spPr>
      </p:sp>
      <p:sp>
        <p:nvSpPr>
          <p:cNvPr id="39" name="Text 37"/>
          <p:cNvSpPr/>
          <p:nvPr/>
        </p:nvSpPr>
        <p:spPr>
          <a:xfrm>
            <a:off x="3319272" y="3794760"/>
            <a:ext cx="1911096" cy="822960"/>
          </a:xfrm>
          <a:prstGeom prst="rect">
            <a:avLst/>
          </a:prstGeom>
          <a:noFill/>
          <a:ln/>
        </p:spPr>
        <p:txBody>
          <a:bodyPr wrap="square" lIns="0" tIns="0" rIns="0" bIns="0" rtlCol="0" anchor="ctr"/>
          <a:lstStyle/>
          <a:p>
            <a:pPr marL="0" indent="0" algn="ctr">
              <a:buNone/>
            </a:pPr>
            <a:r>
              <a:rPr lang="en-US" sz="1050" b="1" dirty="0">
                <a:solidFill>
                  <a:srgbClr val="1F3B63"/>
                </a:solidFill>
                <a:latin typeface="Calibri" pitchFamily="34" charset="0"/>
                <a:ea typeface="Calibri" pitchFamily="34" charset="-122"/>
                <a:cs typeface="Calibri" pitchFamily="34" charset="-120"/>
              </a:rPr>
              <a:t>KMeans K=3 / FEROS classification</a:t>
            </a:r>
            <a:endParaRPr lang="en-US" sz="1050" dirty="0"/>
          </a:p>
        </p:txBody>
      </p:sp>
      <p:sp>
        <p:nvSpPr>
          <p:cNvPr id="40" name="Shape 38"/>
          <p:cNvSpPr/>
          <p:nvPr/>
        </p:nvSpPr>
        <p:spPr>
          <a:xfrm>
            <a:off x="548640" y="3794760"/>
            <a:ext cx="2514600" cy="822960"/>
          </a:xfrm>
          <a:prstGeom prst="roundRect">
            <a:avLst>
              <a:gd name="adj" fmla="val 8889"/>
            </a:avLst>
          </a:prstGeom>
          <a:solidFill>
            <a:srgbClr val="EDF1F7"/>
          </a:solidFill>
          <a:ln w="12700">
            <a:solidFill>
              <a:srgbClr val="EDF1F7"/>
            </a:solidFill>
            <a:prstDash val="solid"/>
          </a:ln>
        </p:spPr>
      </p:sp>
      <p:sp>
        <p:nvSpPr>
          <p:cNvPr id="41" name="Text 39"/>
          <p:cNvSpPr/>
          <p:nvPr/>
        </p:nvSpPr>
        <p:spPr>
          <a:xfrm>
            <a:off x="731520" y="3913632"/>
            <a:ext cx="2148840" cy="274320"/>
          </a:xfrm>
          <a:prstGeom prst="rect">
            <a:avLst/>
          </a:prstGeom>
          <a:noFill/>
          <a:ln/>
        </p:spPr>
        <p:txBody>
          <a:bodyPr wrap="square" lIns="0" tIns="0" rIns="0" bIns="0" rtlCol="0" anchor="ctr"/>
          <a:lstStyle/>
          <a:p>
            <a:pPr marL="0" indent="0">
              <a:buNone/>
            </a:pPr>
            <a:r>
              <a:rPr lang="en-US" sz="1250" b="1" dirty="0">
                <a:solidFill>
                  <a:srgbClr val="1F3B63"/>
                </a:solidFill>
                <a:latin typeface="Calibri" pitchFamily="34" charset="0"/>
                <a:ea typeface="Calibri" pitchFamily="34" charset="-122"/>
                <a:cs typeface="Calibri" pitchFamily="34" charset="-120"/>
              </a:rPr>
              <a:t>No text tower</a:t>
            </a:r>
            <a:endParaRPr lang="en-US" sz="1250" dirty="0"/>
          </a:p>
        </p:txBody>
      </p:sp>
      <p:sp>
        <p:nvSpPr>
          <p:cNvPr id="42" name="Text 40"/>
          <p:cNvSpPr/>
          <p:nvPr/>
        </p:nvSpPr>
        <p:spPr>
          <a:xfrm>
            <a:off x="713232" y="4206240"/>
            <a:ext cx="2194560" cy="320040"/>
          </a:xfrm>
          <a:prstGeom prst="rect">
            <a:avLst/>
          </a:prstGeom>
          <a:noFill/>
          <a:ln/>
        </p:spPr>
        <p:txBody>
          <a:bodyPr wrap="square" lIns="0" tIns="0" rIns="0" bIns="0" rtlCol="0" anchor="ctr"/>
          <a:lstStyle/>
          <a:p>
            <a:pPr marL="0" indent="0">
              <a:buNone/>
            </a:pPr>
            <a:r>
              <a:rPr lang="en-US" sz="1100" dirty="0">
                <a:solidFill>
                  <a:srgbClr val="5B6675"/>
                </a:solidFill>
                <a:latin typeface="Calibri" pitchFamily="34" charset="0"/>
                <a:ea typeface="Calibri" pitchFamily="34" charset="-122"/>
                <a:cs typeface="Calibri" pitchFamily="34" charset="-120"/>
              </a:rPr>
              <a:t>and no contrastive loss anywhere</a:t>
            </a:r>
            <a:endParaRPr lang="en-US" sz="1100" dirty="0"/>
          </a:p>
        </p:txBody>
      </p:sp>
      <p:sp>
        <p:nvSpPr>
          <p:cNvPr id="43" name="Shape 41"/>
          <p:cNvSpPr/>
          <p:nvPr/>
        </p:nvSpPr>
        <p:spPr>
          <a:xfrm>
            <a:off x="548640" y="4937760"/>
            <a:ext cx="11091672" cy="749808"/>
          </a:xfrm>
          <a:prstGeom prst="roundRect">
            <a:avLst>
              <a:gd name="adj" fmla="val 7317"/>
            </a:avLst>
          </a:prstGeom>
          <a:solidFill>
            <a:srgbClr val="1F3B63"/>
          </a:solidFill>
          <a:ln w="12700">
            <a:solidFill>
              <a:srgbClr val="1F3B63"/>
            </a:solidFill>
            <a:prstDash val="solid"/>
          </a:ln>
        </p:spPr>
      </p:sp>
      <p:sp>
        <p:nvSpPr>
          <p:cNvPr id="44" name="Text 42"/>
          <p:cNvSpPr/>
          <p:nvPr/>
        </p:nvSpPr>
        <p:spPr>
          <a:xfrm>
            <a:off x="777240" y="4983480"/>
            <a:ext cx="10607040" cy="658368"/>
          </a:xfrm>
          <a:prstGeom prst="rect">
            <a:avLst/>
          </a:prstGeom>
          <a:noFill/>
          <a:ln/>
        </p:spPr>
        <p:txBody>
          <a:bodyPr wrap="square" lIns="0" tIns="0" rIns="0" bIns="0" rtlCol="0" anchor="ctr"/>
          <a:lstStyle/>
          <a:p>
            <a:pPr marL="0" indent="0">
              <a:buNone/>
            </a:pPr>
            <a:r>
              <a:rPr lang="en-US" sz="1400" b="1" dirty="0">
                <a:solidFill>
                  <a:srgbClr val="E8A61E"/>
                </a:solidFill>
                <a:latin typeface="Calibri" pitchFamily="34" charset="0"/>
                <a:ea typeface="Calibri" pitchFamily="34" charset="-122"/>
                <a:cs typeface="Calibri" pitchFamily="34" charset="-120"/>
              </a:rPr>
              <a:t>Because the transformer only ever sees learned tokens, bin 10 of 48 can mean a different stretch of Ångströms in each instrument without breaking anything. Metrics: synthetic ARI, masked-reconstruction MSE, cluster overlay against the baseline, and leave-one-out accuracy on FEROS.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Model 3: Independent Confirmation, and the FEROS Fix</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OBJECTIVES 4 AND 5 — RESULTS</a:t>
            </a:r>
            <a:endParaRPr lang="en-US" sz="1100" dirty="0"/>
          </a:p>
        </p:txBody>
      </p:sp>
      <p:pic>
        <p:nvPicPr>
          <p:cNvPr id="4" name="Image 0" descr="figs/fig-006.png"/>
          <p:cNvPicPr>
            <a:picLocks noChangeAspect="1"/>
          </p:cNvPicPr>
          <p:nvPr/>
        </p:nvPicPr>
        <p:blipFill>
          <a:blip r:embed="rId3"/>
          <a:stretch>
            <a:fillRect/>
          </a:stretch>
        </p:blipFill>
        <p:spPr>
          <a:xfrm>
            <a:off x="685800" y="1463040"/>
            <a:ext cx="4160520" cy="3520440"/>
          </a:xfrm>
          <a:prstGeom prst="rect">
            <a:avLst/>
          </a:prstGeom>
        </p:spPr>
      </p:pic>
      <p:sp>
        <p:nvSpPr>
          <p:cNvPr id="5" name="Text 2"/>
          <p:cNvSpPr/>
          <p:nvPr/>
        </p:nvSpPr>
        <p:spPr>
          <a:xfrm>
            <a:off x="685800" y="5074920"/>
            <a:ext cx="4160520" cy="457200"/>
          </a:xfrm>
          <a:prstGeom prst="rect">
            <a:avLst/>
          </a:prstGeom>
          <a:noFill/>
          <a:ln/>
        </p:spPr>
        <p:txBody>
          <a:bodyPr wrap="square" lIns="0" tIns="0" rIns="0" bIns="0" rtlCol="0" anchor="t"/>
          <a:lstStyle/>
          <a:p>
            <a:pPr marL="0" indent="0">
              <a:lnSpc>
                <a:spcPts val="1300"/>
              </a:lnSpc>
              <a:buNone/>
            </a:pPr>
            <a:r>
              <a:rPr lang="en-US" sz="1050" i="1" dirty="0">
                <a:solidFill>
                  <a:srgbClr val="5B6675"/>
                </a:solidFill>
                <a:latin typeface="Calibri" pitchFamily="34" charset="0"/>
                <a:ea typeface="Calibri" pitchFamily="34" charset="-122"/>
                <a:cs typeface="Calibri" pitchFamily="34" charset="-120"/>
              </a:rPr>
              <a:t>Model 3's K=3 boundary on the same [N II]/Hα map. Compare it with Model 1's contour two slides back.</a:t>
            </a:r>
            <a:endParaRPr lang="en-US" sz="1050" dirty="0"/>
          </a:p>
        </p:txBody>
      </p:sp>
      <p:sp>
        <p:nvSpPr>
          <p:cNvPr id="6" name="Text 3"/>
          <p:cNvSpPr/>
          <p:nvPr/>
        </p:nvSpPr>
        <p:spPr>
          <a:xfrm>
            <a:off x="5166360" y="1463040"/>
            <a:ext cx="6492240" cy="32004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50" dirty="0">
                <a:solidFill>
                  <a:srgbClr val="202020"/>
                </a:solidFill>
                <a:latin typeface="Calibri" pitchFamily="34" charset="0"/>
                <a:ea typeface="Calibri" pitchFamily="34" charset="-122"/>
                <a:cs typeface="Calibri" pitchFamily="34" charset="-120"/>
              </a:rPr>
              <a:t>Synthetic ARI 0.997, the same sanity-check role as Model 1's.</a:t>
            </a:r>
            <a:endParaRPr lang="en-US" sz="1250" dirty="0"/>
          </a:p>
          <a:p>
            <a:pPr marL="342900" indent="-342900">
              <a:lnSpc>
                <a:spcPts val="1600"/>
              </a:lnSpc>
              <a:spcAft>
                <a:spcPts val="800"/>
              </a:spcAft>
              <a:buSzPct val="100000"/>
              <a:buChar char="•"/>
            </a:pPr>
            <a:r>
              <a:rPr lang="en-US" sz="1250" dirty="0">
                <a:solidFill>
                  <a:srgbClr val="202020"/>
                </a:solidFill>
                <a:latin typeface="Calibri" pitchFamily="34" charset="0"/>
                <a:ea typeface="Calibri" pitchFamily="34" charset="-122"/>
                <a:cs typeface="Calibri" pitchFamily="34" charset="-120"/>
              </a:rPr>
              <a:t>Trained on all 96,093 real-cube spaxels for 10 epochs. Masked-reconstruction MSE fell from 0.00598 to 0.00001.</a:t>
            </a:r>
            <a:endParaRPr lang="en-US" sz="1250" dirty="0"/>
          </a:p>
          <a:p>
            <a:pPr marL="342900" indent="-342900">
              <a:lnSpc>
                <a:spcPts val="1600"/>
              </a:lnSpc>
              <a:spcAft>
                <a:spcPts val="800"/>
              </a:spcAft>
              <a:buSzPct val="100000"/>
              <a:buChar char="•"/>
            </a:pPr>
            <a:r>
              <a:rPr lang="en-US" sz="1250" dirty="0">
                <a:solidFill>
                  <a:srgbClr val="202020"/>
                </a:solidFill>
                <a:latin typeface="Calibri" pitchFamily="34" charset="0"/>
                <a:ea typeface="Calibri" pitchFamily="34" charset="-122"/>
                <a:cs typeface="Calibri" pitchFamily="34" charset="-120"/>
              </a:rPr>
              <a:t>K=3 clusters: 81,606 diffuse, 13,341 in the jet ridge, 1,146 point-source-like.</a:t>
            </a:r>
            <a:endParaRPr lang="en-US" sz="1250" dirty="0"/>
          </a:p>
          <a:p>
            <a:pPr marL="342900" indent="-342900">
              <a:lnSpc>
                <a:spcPts val="1600"/>
              </a:lnSpc>
              <a:spcAft>
                <a:spcPts val="800"/>
              </a:spcAft>
              <a:buSzPct val="100000"/>
              <a:buChar char="•"/>
            </a:pPr>
            <a:r>
              <a:rPr lang="en-US" sz="1250" dirty="0">
                <a:solidFill>
                  <a:srgbClr val="202020"/>
                </a:solidFill>
                <a:latin typeface="Calibri" pitchFamily="34" charset="0"/>
                <a:ea typeface="Calibri" pitchFamily="34" charset="-122"/>
                <a:cs typeface="Calibri" pitchFamily="34" charset="-120"/>
              </a:rPr>
              <a:t>That boundary tracks the same high [N II]/Hα band as the baseline and as Model 1, despite sharing no architecture, loss function or training objective with Model 1.</a:t>
            </a:r>
            <a:endParaRPr lang="en-US" sz="1250" dirty="0"/>
          </a:p>
          <a:p>
            <a:pPr marL="342900" indent="-342900">
              <a:lnSpc>
                <a:spcPts val="1600"/>
              </a:lnSpc>
              <a:spcAft>
                <a:spcPts val="800"/>
              </a:spcAft>
              <a:buSzPct val="100000"/>
              <a:buChar char="•"/>
            </a:pPr>
            <a:r>
              <a:rPr lang="en-US" sz="1250" dirty="0">
                <a:solidFill>
                  <a:srgbClr val="202020"/>
                </a:solidFill>
                <a:latin typeface="Calibri" pitchFamily="34" charset="0"/>
                <a:ea typeface="Calibri" pitchFamily="34" charset="-122"/>
                <a:cs typeface="Calibri" pitchFamily="34" charset="-120"/>
              </a:rPr>
              <a:t>FEROS: the shared backbone was fine-tuned on the 9 exposures and evaluated by leave-one-out nearest-centroid classification. Accuracy 0.889, missing only one HD164492B exposure.</a:t>
            </a:r>
            <a:endParaRPr lang="en-US" sz="1250" dirty="0"/>
          </a:p>
        </p:txBody>
      </p:sp>
      <p:sp>
        <p:nvSpPr>
          <p:cNvPr id="7" name="Shape 4"/>
          <p:cNvSpPr/>
          <p:nvPr/>
        </p:nvSpPr>
        <p:spPr>
          <a:xfrm>
            <a:off x="5166360" y="4480560"/>
            <a:ext cx="3154680" cy="1508760"/>
          </a:xfrm>
          <a:prstGeom prst="roundRect">
            <a:avLst>
              <a:gd name="adj" fmla="val 4848"/>
            </a:avLst>
          </a:prstGeom>
          <a:solidFill>
            <a:srgbClr val="EDF1F7"/>
          </a:solidFill>
          <a:ln w="12700">
            <a:solidFill>
              <a:srgbClr val="EDF1F7"/>
            </a:solidFill>
            <a:prstDash val="solid"/>
          </a:ln>
        </p:spPr>
      </p:sp>
      <p:sp>
        <p:nvSpPr>
          <p:cNvPr id="8" name="Text 5"/>
          <p:cNvSpPr/>
          <p:nvPr/>
        </p:nvSpPr>
        <p:spPr>
          <a:xfrm>
            <a:off x="5349240" y="4599432"/>
            <a:ext cx="2788920" cy="274320"/>
          </a:xfrm>
          <a:prstGeom prst="rect">
            <a:avLst/>
          </a:prstGeom>
          <a:noFill/>
          <a:ln/>
        </p:spPr>
        <p:txBody>
          <a:bodyPr wrap="square" lIns="0" tIns="0" rIns="0" bIns="0" rtlCol="0" anchor="ctr"/>
          <a:lstStyle/>
          <a:p>
            <a:pPr marL="0" indent="0">
              <a:buNone/>
            </a:pPr>
            <a:r>
              <a:rPr lang="en-US" sz="1300" b="1" dirty="0">
                <a:solidFill>
                  <a:srgbClr val="1F3B63"/>
                </a:solidFill>
                <a:latin typeface="Calibri" pitchFamily="34" charset="0"/>
                <a:ea typeface="Calibri" pitchFamily="34" charset="-122"/>
                <a:cs typeface="Calibri" pitchFamily="34" charset="-120"/>
              </a:rPr>
              <a:t>Why the FEROS result improved</a:t>
            </a:r>
            <a:endParaRPr lang="en-US" sz="1300" dirty="0"/>
          </a:p>
        </p:txBody>
      </p:sp>
      <p:sp>
        <p:nvSpPr>
          <p:cNvPr id="9" name="Text 6"/>
          <p:cNvSpPr/>
          <p:nvPr/>
        </p:nvSpPr>
        <p:spPr>
          <a:xfrm>
            <a:off x="5349240" y="4901184"/>
            <a:ext cx="2788920" cy="960120"/>
          </a:xfrm>
          <a:prstGeom prst="rect">
            <a:avLst/>
          </a:prstGeom>
          <a:noFill/>
          <a:ln/>
        </p:spPr>
        <p:txBody>
          <a:bodyPr wrap="square" lIns="0" tIns="0" rIns="0" bIns="0" rtlCol="0" anchor="t"/>
          <a:lstStyle/>
          <a:p>
            <a:pPr marL="0" indent="0">
              <a:lnSpc>
                <a:spcPts val="1438"/>
              </a:lnSpc>
              <a:buNone/>
            </a:pPr>
            <a:r>
              <a:rPr lang="en-US" sz="1150" dirty="0">
                <a:solidFill>
                  <a:srgbClr val="202020"/>
                </a:solidFill>
                <a:latin typeface="Calibri" pitchFamily="34" charset="0"/>
                <a:ea typeface="Calibri" pitchFamily="34" charset="-122"/>
                <a:cs typeface="Calibri" pitchFamily="34" charset="-120"/>
              </a:rPr>
              <a:t>Model 2's failure traced to an untrained-vocabulary text encoder. Model 3 has no text tower to fail that way, which is exactly the design argument for building it.</a:t>
            </a:r>
            <a:endParaRPr lang="en-US" sz="1150" dirty="0"/>
          </a:p>
        </p:txBody>
      </p:sp>
      <p:sp>
        <p:nvSpPr>
          <p:cNvPr id="10" name="Shape 7"/>
          <p:cNvSpPr/>
          <p:nvPr/>
        </p:nvSpPr>
        <p:spPr>
          <a:xfrm>
            <a:off x="8485632" y="4480560"/>
            <a:ext cx="3154680" cy="1508760"/>
          </a:xfrm>
          <a:prstGeom prst="roundRect">
            <a:avLst>
              <a:gd name="adj" fmla="val 4848"/>
            </a:avLst>
          </a:prstGeom>
          <a:solidFill>
            <a:srgbClr val="FBF2DF"/>
          </a:solidFill>
          <a:ln w="12700">
            <a:solidFill>
              <a:srgbClr val="FBF2DF"/>
            </a:solidFill>
            <a:prstDash val="solid"/>
          </a:ln>
        </p:spPr>
      </p:sp>
      <p:sp>
        <p:nvSpPr>
          <p:cNvPr id="11" name="Text 8"/>
          <p:cNvSpPr/>
          <p:nvPr/>
        </p:nvSpPr>
        <p:spPr>
          <a:xfrm>
            <a:off x="8668512" y="4599432"/>
            <a:ext cx="2788920" cy="274320"/>
          </a:xfrm>
          <a:prstGeom prst="rect">
            <a:avLst/>
          </a:prstGeom>
          <a:noFill/>
          <a:ln/>
        </p:spPr>
        <p:txBody>
          <a:bodyPr wrap="square" lIns="0" tIns="0" rIns="0" bIns="0" rtlCol="0" anchor="ctr"/>
          <a:lstStyle/>
          <a:p>
            <a:pPr marL="0" indent="0">
              <a:buNone/>
            </a:pPr>
            <a:r>
              <a:rPr lang="en-US" sz="1300" b="1" dirty="0">
                <a:solidFill>
                  <a:srgbClr val="1F3B63"/>
                </a:solidFill>
                <a:latin typeface="Calibri" pitchFamily="34" charset="0"/>
                <a:ea typeface="Calibri" pitchFamily="34" charset="-122"/>
                <a:cs typeface="Calibri" pitchFamily="34" charset="-120"/>
              </a:rPr>
              <a:t>Two caveats, stated</a:t>
            </a:r>
            <a:endParaRPr lang="en-US" sz="1300" dirty="0"/>
          </a:p>
        </p:txBody>
      </p:sp>
      <p:sp>
        <p:nvSpPr>
          <p:cNvPr id="12" name="Text 9"/>
          <p:cNvSpPr/>
          <p:nvPr/>
        </p:nvSpPr>
        <p:spPr>
          <a:xfrm>
            <a:off x="8668512" y="4901184"/>
            <a:ext cx="2788920" cy="960120"/>
          </a:xfrm>
          <a:prstGeom prst="rect">
            <a:avLst/>
          </a:prstGeom>
          <a:noFill/>
          <a:ln/>
        </p:spPr>
        <p:txBody>
          <a:bodyPr wrap="square" lIns="0" tIns="0" rIns="0" bIns="0" rtlCol="0" anchor="t"/>
          <a:lstStyle/>
          <a:p>
            <a:pPr marL="0" indent="0">
              <a:lnSpc>
                <a:spcPts val="1438"/>
              </a:lnSpc>
              <a:buNone/>
            </a:pPr>
            <a:r>
              <a:rPr lang="en-US" sz="1150" dirty="0">
                <a:solidFill>
                  <a:srgbClr val="202020"/>
                </a:solidFill>
                <a:latin typeface="Calibri" pitchFamily="34" charset="0"/>
                <a:ea typeface="Calibri" pitchFamily="34" charset="-122"/>
                <a:cs typeface="Calibri" pitchFamily="34" charset="-120"/>
              </a:rPr>
              <a:t>Leave-one-out is not a strictly fair comparison with Model 2's genuinely unseen test. And the jet cluster's mean spectrum shows a large negative dip at Hα, cause unconfirmed.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F3B63"/>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WHAT THE PROJECT ESTABLISHED</a:t>
            </a:r>
            <a:endParaRPr lang="en-US" sz="1100" dirty="0"/>
          </a:p>
        </p:txBody>
      </p:sp>
      <p:sp>
        <p:nvSpPr>
          <p:cNvPr id="4" name="Text 2"/>
          <p:cNvSpPr/>
          <p:nvPr/>
        </p:nvSpPr>
        <p:spPr>
          <a:xfrm>
            <a:off x="548640" y="1508760"/>
            <a:ext cx="11091672" cy="502920"/>
          </a:xfrm>
          <a:prstGeom prst="rect">
            <a:avLst/>
          </a:prstGeom>
          <a:noFill/>
          <a:ln/>
        </p:spPr>
        <p:txBody>
          <a:bodyPr wrap="square" lIns="0" tIns="0" rIns="0" bIns="0" rtlCol="0" anchor="ctr"/>
          <a:lstStyle/>
          <a:p>
            <a:pPr marL="0" indent="0">
              <a:buNone/>
            </a:pPr>
            <a:r>
              <a:rPr lang="en-US" sz="2200" b="1" dirty="0">
                <a:solidFill>
                  <a:srgbClr val="E8A61E"/>
                </a:solidFill>
                <a:latin typeface="Calibri" pitchFamily="34" charset="0"/>
                <a:ea typeface="Calibri" pitchFamily="34" charset="-122"/>
                <a:cs typeface="Calibri" pitchFamily="34" charset="-120"/>
              </a:rPr>
              <a:t>The strongest result is not any single accuracy score.</a:t>
            </a:r>
            <a:endParaRPr lang="en-US" sz="2200" dirty="0"/>
          </a:p>
        </p:txBody>
      </p:sp>
      <p:sp>
        <p:nvSpPr>
          <p:cNvPr id="5" name="Text 3"/>
          <p:cNvSpPr/>
          <p:nvPr/>
        </p:nvSpPr>
        <p:spPr>
          <a:xfrm>
            <a:off x="548640" y="2194560"/>
            <a:ext cx="11091672" cy="3840480"/>
          </a:xfrm>
          <a:prstGeom prst="rect">
            <a:avLst/>
          </a:prstGeom>
          <a:noFill/>
          <a:ln/>
        </p:spPr>
        <p:txBody>
          <a:bodyPr wrap="square" lIns="0" tIns="0" rIns="0" bIns="0" rtlCol="0" anchor="t"/>
          <a:lstStyle/>
          <a:p>
            <a:pPr marL="342900" indent="-342900">
              <a:lnSpc>
                <a:spcPts val="1728"/>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Learned embeddings, trained with no labels at all, recover the same jet, diffuse background and point-source structure that line-ratio diagnostics identify by hand.</a:t>
            </a:r>
            <a:endParaRPr lang="en-US" sz="1350" dirty="0"/>
          </a:p>
          <a:p>
            <a:pPr marL="342900" indent="-342900">
              <a:lnSpc>
                <a:spcPts val="1728"/>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Model 1 and Model 3 share no code, no loss function and no training assumptions, yet both landed on the same jet boundary that decades-old line-ratio practice predicts should be there. Agreement from three independent directions is stronger evidence than any one of them alone.</a:t>
            </a:r>
            <a:endParaRPr lang="en-US" sz="1350" dirty="0"/>
          </a:p>
          <a:p>
            <a:pPr marL="342900" indent="-342900">
              <a:lnSpc>
                <a:spcPts val="1728"/>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Model 2 reached 0.889 on SDSS and failed on the FEROS targets in a specific, traceable way. That diagnosis is what motivated Model 3's design, and Model 3 answered it with 0.889 on the same 9 spectra.</a:t>
            </a:r>
            <a:endParaRPr lang="en-US" sz="1350" dirty="0"/>
          </a:p>
          <a:p>
            <a:pPr marL="342900" indent="-342900">
              <a:lnSpc>
                <a:spcPts val="1728"/>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The FEROS spectra worked as the intended differentiator, tying the project to HH399's own irradiating system rather than to the cube alone.</a:t>
            </a:r>
            <a:endParaRPr lang="en-US" sz="1350" dirty="0"/>
          </a:p>
          <a:p>
            <a:pPr marL="342900" indent="-342900">
              <a:lnSpc>
                <a:spcPts val="1728"/>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Limits kept in view: Model 1's near-chance retrieval, two unexplained spectral dips, and the fact that this is a single-object study.</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11155680" cy="777240"/>
          </a:xfrm>
          <a:prstGeom prst="rect">
            <a:avLst/>
          </a:prstGeom>
          <a:noFill/>
          <a:ln/>
        </p:spPr>
        <p:txBody>
          <a:bodyPr wrap="square" lIns="0" tIns="0" rIns="0" bIns="0" rtlCol="0" anchor="ctr"/>
          <a:lstStyle/>
          <a:p>
            <a:pPr marL="0" indent="0">
              <a:buNone/>
            </a:pPr>
            <a:r>
              <a:rPr lang="en-US" sz="2800" b="1" dirty="0">
                <a:solidFill>
                  <a:srgbClr val="1F3B63"/>
                </a:solidFill>
                <a:latin typeface="Calibri" pitchFamily="34" charset="0"/>
                <a:ea typeface="Calibri" pitchFamily="34" charset="-122"/>
                <a:cs typeface="Calibri" pitchFamily="34" charset="-120"/>
              </a:rPr>
              <a:t>What Can Be Done Next</a:t>
            </a:r>
            <a:endParaRPr lang="en-US" sz="2800" dirty="0"/>
          </a:p>
        </p:txBody>
      </p:sp>
      <p:sp>
        <p:nvSpPr>
          <p:cNvPr id="3" name="Text 1"/>
          <p:cNvSpPr/>
          <p:nvPr/>
        </p:nvSpPr>
        <p:spPr>
          <a:xfrm>
            <a:off x="521208" y="1024128"/>
            <a:ext cx="11155680" cy="256032"/>
          </a:xfrm>
          <a:prstGeom prst="rect">
            <a:avLst/>
          </a:prstGeom>
          <a:noFill/>
          <a:ln/>
        </p:spPr>
        <p:txBody>
          <a:bodyPr wrap="square" lIns="0" tIns="0" rIns="0" bIns="0" rtlCol="0" anchor="ctr"/>
          <a:lstStyle/>
          <a:p>
            <a:pPr marL="0" indent="0">
              <a:buNone/>
            </a:pPr>
            <a:r>
              <a:rPr lang="en-US" sz="1100" b="1" kern="0" spc="140" dirty="0">
                <a:solidFill>
                  <a:srgbClr val="E8A61E"/>
                </a:solidFill>
                <a:latin typeface="Calibri" pitchFamily="34" charset="0"/>
                <a:ea typeface="Calibri" pitchFamily="34" charset="-122"/>
                <a:cs typeface="Calibri" pitchFamily="34" charset="-120"/>
              </a:rPr>
              <a:t>FUTURE WORK</a:t>
            </a:r>
            <a:endParaRPr lang="en-US" sz="1100" dirty="0"/>
          </a:p>
        </p:txBody>
      </p:sp>
      <p:sp>
        <p:nvSpPr>
          <p:cNvPr id="4" name="Shape 2"/>
          <p:cNvSpPr/>
          <p:nvPr/>
        </p:nvSpPr>
        <p:spPr>
          <a:xfrm>
            <a:off x="548640" y="1463040"/>
            <a:ext cx="3566160" cy="1508760"/>
          </a:xfrm>
          <a:prstGeom prst="roundRect">
            <a:avLst>
              <a:gd name="adj" fmla="val 4848"/>
            </a:avLst>
          </a:prstGeom>
          <a:solidFill>
            <a:srgbClr val="EDF1F7"/>
          </a:solidFill>
          <a:ln w="12700">
            <a:solidFill>
              <a:srgbClr val="EDF1F7"/>
            </a:solidFill>
            <a:prstDash val="solid"/>
          </a:ln>
        </p:spPr>
      </p:sp>
      <p:sp>
        <p:nvSpPr>
          <p:cNvPr id="5" name="Text 3"/>
          <p:cNvSpPr/>
          <p:nvPr/>
        </p:nvSpPr>
        <p:spPr>
          <a:xfrm>
            <a:off x="731520" y="158191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Fix the text encoder</a:t>
            </a:r>
            <a:endParaRPr lang="en-US" sz="1400" dirty="0"/>
          </a:p>
        </p:txBody>
      </p:sp>
      <p:sp>
        <p:nvSpPr>
          <p:cNvPr id="6" name="Text 4"/>
          <p:cNvSpPr/>
          <p:nvPr/>
        </p:nvSpPr>
        <p:spPr>
          <a:xfrm>
            <a:off x="731520" y="1883664"/>
            <a:ext cx="3200400" cy="960120"/>
          </a:xfrm>
          <a:prstGeom prst="rect">
            <a:avLst/>
          </a:prstGeom>
          <a:noFill/>
          <a:ln/>
        </p:spPr>
        <p:txBody>
          <a:bodyPr wrap="square" lIns="0" tIns="0" rIns="0" bIns="0" rtlCol="0" anchor="t"/>
          <a:lstStyle/>
          <a:p>
            <a:pPr marL="0" indent="0">
              <a:lnSpc>
                <a:spcPts val="1475"/>
              </a:lnSpc>
              <a:buNone/>
            </a:pPr>
            <a:r>
              <a:rPr lang="en-US" sz="1180" dirty="0">
                <a:solidFill>
                  <a:srgbClr val="202020"/>
                </a:solidFill>
                <a:latin typeface="Calibri" pitchFamily="34" charset="0"/>
                <a:ea typeface="Calibri" pitchFamily="34" charset="-122"/>
                <a:cs typeface="Calibri" pitchFamily="34" charset="-120"/>
              </a:rPr>
              <a:t>Replace Model 2's TF-IDF and MLP with a pretrained sentence transformer, then re-run the FEROS test to check whether the spectral representation alone was always sufficient.</a:t>
            </a:r>
            <a:endParaRPr lang="en-US" sz="1180" dirty="0"/>
          </a:p>
        </p:txBody>
      </p:sp>
      <p:sp>
        <p:nvSpPr>
          <p:cNvPr id="7" name="Shape 5"/>
          <p:cNvSpPr/>
          <p:nvPr/>
        </p:nvSpPr>
        <p:spPr>
          <a:xfrm>
            <a:off x="4315968" y="1463040"/>
            <a:ext cx="3566160" cy="1508760"/>
          </a:xfrm>
          <a:prstGeom prst="roundRect">
            <a:avLst>
              <a:gd name="adj" fmla="val 4848"/>
            </a:avLst>
          </a:prstGeom>
          <a:solidFill>
            <a:srgbClr val="EDF1F7"/>
          </a:solidFill>
          <a:ln w="12700">
            <a:solidFill>
              <a:srgbClr val="EDF1F7"/>
            </a:solidFill>
            <a:prstDash val="solid"/>
          </a:ln>
        </p:spPr>
      </p:sp>
      <p:sp>
        <p:nvSpPr>
          <p:cNvPr id="8" name="Text 6"/>
          <p:cNvSpPr/>
          <p:nvPr/>
        </p:nvSpPr>
        <p:spPr>
          <a:xfrm>
            <a:off x="4498848" y="158191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Close the retrieval gap</a:t>
            </a:r>
            <a:endParaRPr lang="en-US" sz="1400" dirty="0"/>
          </a:p>
        </p:txBody>
      </p:sp>
      <p:sp>
        <p:nvSpPr>
          <p:cNvPr id="9" name="Text 7"/>
          <p:cNvSpPr/>
          <p:nvPr/>
        </p:nvSpPr>
        <p:spPr>
          <a:xfrm>
            <a:off x="4498848" y="1883664"/>
            <a:ext cx="3200400" cy="960120"/>
          </a:xfrm>
          <a:prstGeom prst="rect">
            <a:avLst/>
          </a:prstGeom>
          <a:noFill/>
          <a:ln/>
        </p:spPr>
        <p:txBody>
          <a:bodyPr wrap="square" lIns="0" tIns="0" rIns="0" bIns="0" rtlCol="0" anchor="t"/>
          <a:lstStyle/>
          <a:p>
            <a:pPr marL="0" indent="0">
              <a:lnSpc>
                <a:spcPts val="1475"/>
              </a:lnSpc>
              <a:buNone/>
            </a:pPr>
            <a:r>
              <a:rPr lang="en-US" sz="1180" dirty="0">
                <a:solidFill>
                  <a:srgbClr val="202020"/>
                </a:solidFill>
                <a:latin typeface="Calibri" pitchFamily="34" charset="0"/>
                <a:ea typeface="Calibri" pitchFamily="34" charset="-122"/>
                <a:cs typeface="Calibri" pitchFamily="34" charset="-120"/>
              </a:rPr>
              <a:t>Investigate Model 1's chance-level retrieval with harder in-batch negative sampling or a larger batch size, to see whether it is a training-signal problem rather than a representational one.</a:t>
            </a:r>
            <a:endParaRPr lang="en-US" sz="1180" dirty="0"/>
          </a:p>
        </p:txBody>
      </p:sp>
      <p:sp>
        <p:nvSpPr>
          <p:cNvPr id="10" name="Shape 8"/>
          <p:cNvSpPr/>
          <p:nvPr/>
        </p:nvSpPr>
        <p:spPr>
          <a:xfrm>
            <a:off x="8083296" y="1463040"/>
            <a:ext cx="3566160" cy="1508760"/>
          </a:xfrm>
          <a:prstGeom prst="roundRect">
            <a:avLst>
              <a:gd name="adj" fmla="val 4848"/>
            </a:avLst>
          </a:prstGeom>
          <a:solidFill>
            <a:srgbClr val="EDF1F7"/>
          </a:solidFill>
          <a:ln w="12700">
            <a:solidFill>
              <a:srgbClr val="EDF1F7"/>
            </a:solidFill>
            <a:prstDash val="solid"/>
          </a:ln>
        </p:spPr>
      </p:sp>
      <p:sp>
        <p:nvSpPr>
          <p:cNvPr id="11" name="Text 9"/>
          <p:cNvSpPr/>
          <p:nvPr/>
        </p:nvSpPr>
        <p:spPr>
          <a:xfrm>
            <a:off x="8266176" y="158191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Chase the Hα anomaly</a:t>
            </a:r>
            <a:endParaRPr lang="en-US" sz="1400" dirty="0"/>
          </a:p>
        </p:txBody>
      </p:sp>
      <p:sp>
        <p:nvSpPr>
          <p:cNvPr id="12" name="Text 10"/>
          <p:cNvSpPr/>
          <p:nvPr/>
        </p:nvSpPr>
        <p:spPr>
          <a:xfrm>
            <a:off x="8266176" y="1883664"/>
            <a:ext cx="3200400" cy="960120"/>
          </a:xfrm>
          <a:prstGeom prst="rect">
            <a:avLst/>
          </a:prstGeom>
          <a:noFill/>
          <a:ln/>
        </p:spPr>
        <p:txBody>
          <a:bodyPr wrap="square" lIns="0" tIns="0" rIns="0" bIns="0" rtlCol="0" anchor="t"/>
          <a:lstStyle/>
          <a:p>
            <a:pPr marL="0" indent="0">
              <a:lnSpc>
                <a:spcPts val="1475"/>
              </a:lnSpc>
              <a:buNone/>
            </a:pPr>
            <a:r>
              <a:rPr lang="en-US" sz="1180" dirty="0">
                <a:solidFill>
                  <a:srgbClr val="202020"/>
                </a:solidFill>
                <a:latin typeface="Calibri" pitchFamily="34" charset="0"/>
                <a:ea typeface="Calibri" pitchFamily="34" charset="-122"/>
                <a:cs typeface="Calibri" pitchFamily="34" charset="-120"/>
              </a:rPr>
              <a:t>Re-run K=3 with a different random seed and check whether the same dip reappears, which separates a per-spaxel artefact from a property of that particular clustering split.</a:t>
            </a:r>
            <a:endParaRPr lang="en-US" sz="1180" dirty="0"/>
          </a:p>
        </p:txBody>
      </p:sp>
      <p:sp>
        <p:nvSpPr>
          <p:cNvPr id="13" name="Shape 11"/>
          <p:cNvSpPr/>
          <p:nvPr/>
        </p:nvSpPr>
        <p:spPr>
          <a:xfrm>
            <a:off x="548640" y="3154680"/>
            <a:ext cx="3566160" cy="1508760"/>
          </a:xfrm>
          <a:prstGeom prst="roundRect">
            <a:avLst>
              <a:gd name="adj" fmla="val 4848"/>
            </a:avLst>
          </a:prstGeom>
          <a:solidFill>
            <a:srgbClr val="FBF2DF"/>
          </a:solidFill>
          <a:ln w="12700">
            <a:solidFill>
              <a:srgbClr val="FBF2DF"/>
            </a:solidFill>
            <a:prstDash val="solid"/>
          </a:ln>
        </p:spPr>
      </p:sp>
      <p:sp>
        <p:nvSpPr>
          <p:cNvPr id="14" name="Text 12"/>
          <p:cNvSpPr/>
          <p:nvPr/>
        </p:nvSpPr>
        <p:spPr>
          <a:xfrm>
            <a:off x="731520" y="327355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Generalise beyond HH399</a:t>
            </a:r>
            <a:endParaRPr lang="en-US" sz="1400" dirty="0"/>
          </a:p>
        </p:txBody>
      </p:sp>
      <p:sp>
        <p:nvSpPr>
          <p:cNvPr id="15" name="Text 13"/>
          <p:cNvSpPr/>
          <p:nvPr/>
        </p:nvSpPr>
        <p:spPr>
          <a:xfrm>
            <a:off x="731520" y="3575304"/>
            <a:ext cx="3200400" cy="960120"/>
          </a:xfrm>
          <a:prstGeom prst="rect">
            <a:avLst/>
          </a:prstGeom>
          <a:noFill/>
          <a:ln/>
        </p:spPr>
        <p:txBody>
          <a:bodyPr wrap="square" lIns="0" tIns="0" rIns="0" bIns="0" rtlCol="0" anchor="t"/>
          <a:lstStyle/>
          <a:p>
            <a:pPr marL="0" indent="0">
              <a:lnSpc>
                <a:spcPts val="1475"/>
              </a:lnSpc>
              <a:buNone/>
            </a:pPr>
            <a:r>
              <a:rPr lang="en-US" sz="1180" dirty="0">
                <a:solidFill>
                  <a:srgbClr val="202020"/>
                </a:solidFill>
                <a:latin typeface="Calibri" pitchFamily="34" charset="0"/>
                <a:ea typeface="Calibri" pitchFamily="34" charset="-122"/>
                <a:cs typeface="Calibri" pitchFamily="34" charset="-120"/>
              </a:rPr>
              <a:t>Apply the same baseline-plus-two-models pipeline to a second MUSE-observed HH jet, to test whether the convergence result is a property of the method or of this object.</a:t>
            </a:r>
            <a:endParaRPr lang="en-US" sz="1180" dirty="0"/>
          </a:p>
        </p:txBody>
      </p:sp>
      <p:sp>
        <p:nvSpPr>
          <p:cNvPr id="16" name="Shape 14"/>
          <p:cNvSpPr/>
          <p:nvPr/>
        </p:nvSpPr>
        <p:spPr>
          <a:xfrm>
            <a:off x="4315968" y="3154680"/>
            <a:ext cx="3566160" cy="1508760"/>
          </a:xfrm>
          <a:prstGeom prst="roundRect">
            <a:avLst>
              <a:gd name="adj" fmla="val 4848"/>
            </a:avLst>
          </a:prstGeom>
          <a:solidFill>
            <a:srgbClr val="FBF2DF"/>
          </a:solidFill>
          <a:ln w="12700">
            <a:solidFill>
              <a:srgbClr val="FBF2DF"/>
            </a:solidFill>
            <a:prstDash val="solid"/>
          </a:ln>
        </p:spPr>
      </p:sp>
      <p:sp>
        <p:nvSpPr>
          <p:cNvPr id="17" name="Text 15"/>
          <p:cNvSpPr/>
          <p:nvPr/>
        </p:nvSpPr>
        <p:spPr>
          <a:xfrm>
            <a:off x="4498848" y="3273552"/>
            <a:ext cx="3200400" cy="274320"/>
          </a:xfrm>
          <a:prstGeom prst="rect">
            <a:avLst/>
          </a:prstGeom>
          <a:noFill/>
          <a:ln/>
        </p:spPr>
        <p:txBody>
          <a:bodyPr wrap="square" lIns="0" tIns="0" rIns="0" bIns="0" rtlCol="0" anchor="ctr"/>
          <a:lstStyle/>
          <a:p>
            <a:pPr marL="0" indent="0">
              <a:buNone/>
            </a:pPr>
            <a:r>
              <a:rPr lang="en-US" sz="1400" b="1" dirty="0">
                <a:solidFill>
                  <a:srgbClr val="1F3B63"/>
                </a:solidFill>
                <a:latin typeface="Calibri" pitchFamily="34" charset="0"/>
                <a:ea typeface="Calibri" pitchFamily="34" charset="-122"/>
                <a:cs typeface="Calibri" pitchFamily="34" charset="-120"/>
              </a:rPr>
              <a:t>Scale Model 3 upward</a:t>
            </a:r>
            <a:endParaRPr lang="en-US" sz="1400" dirty="0"/>
          </a:p>
        </p:txBody>
      </p:sp>
      <p:sp>
        <p:nvSpPr>
          <p:cNvPr id="18" name="Text 16"/>
          <p:cNvSpPr/>
          <p:nvPr/>
        </p:nvSpPr>
        <p:spPr>
          <a:xfrm>
            <a:off x="4498848" y="3575304"/>
            <a:ext cx="3200400" cy="960120"/>
          </a:xfrm>
          <a:prstGeom prst="rect">
            <a:avLst/>
          </a:prstGeom>
          <a:noFill/>
          <a:ln/>
        </p:spPr>
        <p:txBody>
          <a:bodyPr wrap="square" lIns="0" tIns="0" rIns="0" bIns="0" rtlCol="0" anchor="t"/>
          <a:lstStyle/>
          <a:p>
            <a:pPr marL="0" indent="0">
              <a:lnSpc>
                <a:spcPts val="1475"/>
              </a:lnSpc>
              <a:buNone/>
            </a:pPr>
            <a:r>
              <a:rPr lang="en-US" sz="1180" dirty="0">
                <a:solidFill>
                  <a:srgbClr val="202020"/>
                </a:solidFill>
                <a:latin typeface="Calibri" pitchFamily="34" charset="0"/>
                <a:ea typeface="Calibri" pitchFamily="34" charset="-122"/>
                <a:cs typeface="Calibri" pitchFamily="34" charset="-120"/>
              </a:rPr>
              <a:t>Add more MUSE-observed jets as additional objects the shared backbone trains across, moving one step closer to AION-1's actual many-objects-at-once regime.</a:t>
            </a:r>
            <a:endParaRPr lang="en-US" sz="1180" dirty="0"/>
          </a:p>
        </p:txBody>
      </p:sp>
      <p:sp>
        <p:nvSpPr>
          <p:cNvPr id="20" name="Text 18"/>
          <p:cNvSpPr/>
          <p:nvPr/>
        </p:nvSpPr>
        <p:spPr>
          <a:xfrm>
            <a:off x="8266176" y="3273552"/>
            <a:ext cx="3200400" cy="274320"/>
          </a:xfrm>
          <a:prstGeom prst="rect">
            <a:avLst/>
          </a:prstGeom>
          <a:noFill/>
          <a:ln/>
        </p:spPr>
        <p:txBody>
          <a:bodyPr wrap="square" lIns="0" tIns="0" rIns="0" bIns="0" rtlCol="0" anchor="ctr"/>
          <a:lstStyle/>
          <a:p>
            <a:pPr marL="0" indent="0">
              <a:buNone/>
            </a:pPr>
            <a:endParaRPr lang="en-US" sz="1400" dirty="0"/>
          </a:p>
        </p:txBody>
      </p:sp>
      <p:sp>
        <p:nvSpPr>
          <p:cNvPr id="21" name="Text 19"/>
          <p:cNvSpPr/>
          <p:nvPr/>
        </p:nvSpPr>
        <p:spPr>
          <a:xfrm>
            <a:off x="8266176" y="3575304"/>
            <a:ext cx="3200400" cy="960120"/>
          </a:xfrm>
          <a:prstGeom prst="rect">
            <a:avLst/>
          </a:prstGeom>
          <a:noFill/>
          <a:ln/>
        </p:spPr>
        <p:txBody>
          <a:bodyPr wrap="square" lIns="0" tIns="0" rIns="0" bIns="0" rtlCol="0" anchor="t"/>
          <a:lstStyle/>
          <a:p>
            <a:pPr marL="0" indent="0">
              <a:lnSpc>
                <a:spcPts val="1475"/>
              </a:lnSpc>
              <a:buNone/>
            </a:pPr>
            <a:endParaRPr lang="en-US" sz="1180" dirty="0"/>
          </a:p>
        </p:txBody>
      </p:sp>
      <p:sp>
        <p:nvSpPr>
          <p:cNvPr id="22" name="Shape 20"/>
          <p:cNvSpPr/>
          <p:nvPr/>
        </p:nvSpPr>
        <p:spPr>
          <a:xfrm>
            <a:off x="4023360" y="5074920"/>
            <a:ext cx="4142232" cy="914400"/>
          </a:xfrm>
          <a:prstGeom prst="roundRect">
            <a:avLst>
              <a:gd name="adj" fmla="val 8000"/>
            </a:avLst>
          </a:prstGeom>
          <a:solidFill>
            <a:srgbClr val="1F3B63"/>
          </a:solidFill>
          <a:ln w="12700">
            <a:solidFill>
              <a:srgbClr val="1F3B63"/>
            </a:solidFill>
            <a:prstDash val="solid"/>
          </a:ln>
        </p:spPr>
      </p:sp>
      <p:sp>
        <p:nvSpPr>
          <p:cNvPr id="23" name="Text 21"/>
          <p:cNvSpPr/>
          <p:nvPr/>
        </p:nvSpPr>
        <p:spPr>
          <a:xfrm>
            <a:off x="4023360" y="5074920"/>
            <a:ext cx="4142232" cy="91440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4029</Words>
  <Application>Microsoft Office PowerPoint</Application>
  <PresentationFormat>Widescreen</PresentationFormat>
  <Paragraphs>325</Paragraphs>
  <Slides>22</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Self-Supervised Region Mapping of HH399</dc:title>
  <dc:subject>PptxGenJS Presentation</dc:subject>
  <dc:creator>Eshan Kumar Jain</dc:creator>
  <cp:lastModifiedBy>ESHAN JAIN</cp:lastModifiedBy>
  <cp:revision>5</cp:revision>
  <dcterms:created xsi:type="dcterms:W3CDTF">2026-08-10T10:54:11Z</dcterms:created>
  <dcterms:modified xsi:type="dcterms:W3CDTF">2026-08-10T12:08:29Z</dcterms:modified>
</cp:coreProperties>
</file>