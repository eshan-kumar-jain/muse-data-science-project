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consolata"/>
      <p:regular r:id="rId17"/>
    </p:embeddedFont>
    <p:embeddedFont>
      <p:font typeface="Inconsolata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335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MUSE Data &amp; Astronomy Research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Exploring the Multi-Unit Spectroscopic Explorer, FITS data format, and two cutting-edge research papers — from young stellar jets to AI foundation models.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335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1351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What is MUSE?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18408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MUSE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(Multi-Unit Spectroscopic Explorer) is an instrument on ESO's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Very Large Telescope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 Chile. It's an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Integral Field Unit (IFU)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unlike a normal camera (2D image) or spectrograph (one spectrum), MUSE captures a spectrum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every pixel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simultaneously across a 1×1 arcminute field of view.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253746"/>
            <a:ext cx="3664744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44805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X Position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4970978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Spatial axis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4253746"/>
            <a:ext cx="3664863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0" name="Text 7"/>
          <p:cNvSpPr/>
          <p:nvPr/>
        </p:nvSpPr>
        <p:spPr>
          <a:xfrm>
            <a:off x="4912162" y="44805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Y Position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2162" y="4970978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Spatial axis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8750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3" name="Text 10"/>
          <p:cNvSpPr/>
          <p:nvPr/>
        </p:nvSpPr>
        <p:spPr>
          <a:xfrm>
            <a:off x="1020604" y="60143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Wavelength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0604" y="650474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Spectrum at each pixel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5278"/>
            <a:ext cx="65202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MUSE Key Specifications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4000–9000Å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Wavelength Range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Full optical light coverage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~3000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Resolution Elements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Across the field of view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100K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Pixels per Element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Spectral info per resolution element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413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creates a powerful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3D data cube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extract images at any wavelength, or spectra from any location in the field.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25" y="873323"/>
            <a:ext cx="4233863" cy="4233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46527" y="2197418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What is FITS Format?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5546527" y="3096816"/>
            <a:ext cx="8322350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FITS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(Flexible Image Transport System) is the standard file format in astronomy. MUSE data cubes are stored as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.fits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files.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69025" y="5586055"/>
            <a:ext cx="3113484" cy="2009537"/>
          </a:xfrm>
          <a:prstGeom prst="roundRect">
            <a:avLst>
              <a:gd name="adj" fmla="val 1640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9175" y="5836206"/>
            <a:ext cx="261318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Images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19175" y="6307098"/>
            <a:ext cx="2613184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2D pixel arrays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095274" y="5586055"/>
            <a:ext cx="3113484" cy="2009537"/>
          </a:xfrm>
          <a:prstGeom prst="roundRect">
            <a:avLst>
              <a:gd name="adj" fmla="val 1640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5424" y="5836206"/>
            <a:ext cx="261318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Cubes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4345424" y="6307098"/>
            <a:ext cx="2613184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3D: x, y, wavelength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21523" y="5586055"/>
            <a:ext cx="3113484" cy="2009537"/>
          </a:xfrm>
          <a:prstGeom prst="roundRect">
            <a:avLst>
              <a:gd name="adj" fmla="val 1640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71673" y="5836206"/>
            <a:ext cx="261318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Tables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7671673" y="6307098"/>
            <a:ext cx="2613184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Star catalogues &amp; measurements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0747772" y="5586055"/>
            <a:ext cx="3113603" cy="2009537"/>
          </a:xfrm>
          <a:prstGeom prst="roundRect">
            <a:avLst>
              <a:gd name="adj" fmla="val 1640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97922" y="5836206"/>
            <a:ext cx="261330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Headers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10997922" y="6307098"/>
            <a:ext cx="261330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Metadata: telescope, date, coordinates, exposure time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335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71914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Research Paper 1: The Th 28 Jet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47686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 28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(Sz 102) is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Classical T Tauri Star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a young, pre-main-sequence star in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Lupus 3 cloud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~160 parsecs away. It drives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bipolar jet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(HH 228), ejecting gas in two opposite directions.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820722"/>
            <a:ext cx="7556421" cy="1689616"/>
          </a:xfrm>
          <a:prstGeom prst="roundRect">
            <a:avLst>
              <a:gd name="adj" fmla="val 2014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5157192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5104209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Jets remove mass and angular momentum from the star-disk system — understanding them reveals how stars like our Sun form.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MUSE Analysis of Th 28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40593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Spectro-Imaging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505319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Extracted jet images in Hα, [S II], [O III], [N II] at specific velocity ranges — revealing blue-shifted (toward us) vs. red-shifted (away) gas.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48554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48" y="2863215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PV Diagrams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50531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Position-Velocity slices through the data cube showing how velocity changes along the jet.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Knot Identification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Found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6 new knots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(shocked gas clumps), some only visible after Lucy-Richardson deconvolution.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23165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5520214"/>
            <a:ext cx="3117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Jet Width &amp; Precession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6010632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Measured jet opening angle via Gaussian fitting; detected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point-symmetric wiggle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a signature of jet precession.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8746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Why Does the Jet Precess?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43118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jet axis slowly rotates — like a spinning top — with a period of ~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 years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The proposed cause: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brown dwarf companion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(~70 Jupiter masses) orbiting Th 28 at just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~0.3 AU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forcing the inner disk to precess and dragging the jet with it.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5112782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4A02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449252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5396270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connects to the broader question of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jet launching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what does jet morphology tell us about the star-disk system?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992386"/>
            <a:ext cx="6244709" cy="6244709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992386"/>
            <a:ext cx="6244709" cy="6244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335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248489"/>
            <a:ext cx="6803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Research Paper 2: AION-1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29743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AION-1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(Parker et al. 2025) is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foundation model for astronomy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like GPT, but built to process 39 types of astronomical data: images, spectra, and scalar measurements, all in one unified model.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641288"/>
            <a:ext cx="7556421" cy="3339703"/>
          </a:xfrm>
          <a:prstGeom prst="roundRect">
            <a:avLst>
              <a:gd name="adj" fmla="val 1019"/>
            </a:avLst>
          </a:prstGeom>
          <a:solidFill>
            <a:srgbClr val="433550"/>
          </a:solidFill>
          <a:ln/>
        </p:spPr>
      </p:sp>
      <p:sp>
        <p:nvSpPr>
          <p:cNvPr id="7" name="Shape 4"/>
          <p:cNvSpPr/>
          <p:nvPr/>
        </p:nvSpPr>
        <p:spPr>
          <a:xfrm>
            <a:off x="793790" y="3641288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38681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4358521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Traditional analyses use separate, instrument-specific models — no cross-modal reasoning.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311140"/>
            <a:ext cx="7556421" cy="1669852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11" name="Shape 8"/>
          <p:cNvSpPr/>
          <p:nvPr/>
        </p:nvSpPr>
        <p:spPr>
          <a:xfrm>
            <a:off x="793790" y="5311140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12" name="Text 9"/>
          <p:cNvSpPr/>
          <p:nvPr/>
        </p:nvSpPr>
        <p:spPr>
          <a:xfrm>
            <a:off x="1020604" y="5537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0604" y="6028373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omnimodal architecture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integrating all data types within a single transformer system.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9333"/>
            <a:ext cx="8504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AION-1 Architecture &amp; Variants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05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Two-Stage Design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00" y="3221593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214568"/>
            <a:ext cx="3117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Universal Tokenization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795713"/>
            <a:ext cx="55075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Images (MagViT+FSQ), spectra (ConvNeXt-V2+LFQ), and scalars (CDF-mapped) → common discrete token space.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345073"/>
            <a:ext cx="340162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5338048"/>
            <a:ext cx="36839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Multimodal Masked Modeling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30906" y="5919192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Transformer encoder-decoder trained to reconstruct masked tokens, learning cross-modal relationships.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599521" y="2605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Model Variants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599521" y="3214568"/>
            <a:ext cx="6244709" cy="1966198"/>
          </a:xfrm>
          <a:prstGeom prst="roundRect">
            <a:avLst>
              <a:gd name="adj" fmla="val 173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07141" y="3222188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834074" y="3365897"/>
            <a:ext cx="20343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AION-B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10329624" y="3365897"/>
            <a:ext cx="32801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300M params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607141" y="3872508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7834074" y="4016216"/>
            <a:ext cx="20343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AION-L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10329624" y="4016216"/>
            <a:ext cx="32801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800M params</a:t>
            </a:r>
            <a:endParaRPr lang="en-US" sz="1750" dirty="0"/>
          </a:p>
        </p:txBody>
      </p:sp>
      <p:sp>
        <p:nvSpPr>
          <p:cNvPr id="18" name="Shape 14"/>
          <p:cNvSpPr/>
          <p:nvPr/>
        </p:nvSpPr>
        <p:spPr>
          <a:xfrm>
            <a:off x="7607141" y="4522827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7834074" y="4666536"/>
            <a:ext cx="20343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AION-XL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10329624" y="4666536"/>
            <a:ext cx="32801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3.1B params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335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5562" y="167283"/>
            <a:ext cx="5263277" cy="7894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407" y="836176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Concepts</a:t>
            </a:r>
            <a:endParaRPr lang="en-US" sz="4350" dirty="0"/>
          </a:p>
        </p:txBody>
      </p:sp>
      <p:sp>
        <p:nvSpPr>
          <p:cNvPr id="5" name="Shape 2"/>
          <p:cNvSpPr/>
          <p:nvPr/>
        </p:nvSpPr>
        <p:spPr>
          <a:xfrm>
            <a:off x="781407" y="1863566"/>
            <a:ext cx="7581186" cy="1696760"/>
          </a:xfrm>
          <a:prstGeom prst="roundRect">
            <a:avLst>
              <a:gd name="adj" fmla="val 8623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27" y="1863566"/>
            <a:ext cx="121920" cy="1696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6569" y="211728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Precession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126569" y="2597944"/>
            <a:ext cx="698230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slow rotation of a jet's axis — like a spinning top wobbling. In Th 28, caused by a companion's gravitational tug on the disk.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81407" y="3780115"/>
            <a:ext cx="7581186" cy="1696760"/>
          </a:xfrm>
          <a:prstGeom prst="roundRect">
            <a:avLst>
              <a:gd name="adj" fmla="val 8623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27" y="3780115"/>
            <a:ext cx="121920" cy="1696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26569" y="403383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Red &amp; Blue Shift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126569" y="4514493"/>
            <a:ext cx="698230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Motion stretches (red) or compresses (blue) light wavelengths. MUSE uses this to map which jet regions move toward or away from us.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81407" y="5696664"/>
            <a:ext cx="7581186" cy="1696760"/>
          </a:xfrm>
          <a:prstGeom prst="roundRect">
            <a:avLst>
              <a:gd name="adj" fmla="val 8623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27" y="5696664"/>
            <a:ext cx="121920" cy="1696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26569" y="5950387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Flux</a:t>
            </a:r>
            <a:endParaRPr lang="en-US" sz="2150" dirty="0"/>
          </a:p>
        </p:txBody>
      </p:sp>
      <p:sp>
        <p:nvSpPr>
          <p:cNvPr id="16" name="Text 10"/>
          <p:cNvSpPr/>
          <p:nvPr/>
        </p:nvSpPr>
        <p:spPr>
          <a:xfrm>
            <a:off x="1126569" y="6431042"/>
            <a:ext cx="698230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amount of light energy received per unit area per unit time — a measure of brightness at a given wavelength.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2026-04-16T23:58:07Z</dcterms:created>
  <dcterms:modified xsi:type="dcterms:W3CDTF">2026-04-16T23:58:07Z</dcterms:modified>
</cp:coreProperties>
</file>